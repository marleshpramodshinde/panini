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Calibri" panose="020F0502020204030204" pitchFamily="34" charset="0"/>
      <p:regular r:id="rId18"/>
      <p:bold r:id="rId19"/>
      <p:italic r:id="rId20"/>
      <p:boldItalic r:id="rId21"/>
    </p:embeddedFont>
    <p:embeddedFont>
      <p:font typeface="Montserrat" panose="020B0604020202020204"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707"/>
  </p:normalViewPr>
  <p:slideViewPr>
    <p:cSldViewPr snapToGrid="0">
      <p:cViewPr varScale="1">
        <p:scale>
          <a:sx n="82" d="100"/>
          <a:sy n="82" d="100"/>
        </p:scale>
        <p:origin x="810"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 name="Google Shape;2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 name="Google Shape;2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 name="Google Shape;49;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0" name="Google Shape;50;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 name="Google Shape;76;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7" name="Google Shape;77;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3" name="Google Shape;103;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8" name="Google Shape;128;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7" name="Google Shape;157;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58" name="Google Shape;158;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3" name="Google Shape;193;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94" name="Google Shape;194;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2" name="Google Shape;232;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0" name="Google Shape;270;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1" name="Google Shape;271;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3" name="Google Shape;313;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4" name="Google Shape;314;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3" name="Google Shape;343;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4" name="Google Shape;344;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5" name="Google Shape;355;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6" name="Google Shape;356;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13</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7" name="Google Shape;367;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8" name="Google Shape;368;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0" name="Google Shape;380;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15</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png"/><Relationship Id="rId7" Type="http://schemas.openxmlformats.org/officeDocument/2006/relationships/image" Target="../media/image29.png"/><Relationship Id="rId12"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3.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8.png"/><Relationship Id="rId4" Type="http://schemas.openxmlformats.org/officeDocument/2006/relationships/image" Target="../media/image38.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p:nvPr/>
        </p:nvSpPr>
        <p:spPr>
          <a:xfrm>
            <a:off x="-1463040" y="3931920"/>
            <a:ext cx="3657600" cy="3657600"/>
          </a:xfrm>
          <a:prstGeom prst="ellipse">
            <a:avLst/>
          </a:prstGeom>
          <a:solidFill>
            <a:srgbClr val="FFFFFF">
              <a:alpha val="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3"/>
          <p:cNvSpPr/>
          <p:nvPr/>
        </p:nvSpPr>
        <p:spPr>
          <a:xfrm>
            <a:off x="9875520" y="-1371600"/>
            <a:ext cx="3840480" cy="3840480"/>
          </a:xfrm>
          <a:prstGeom prst="ellipse">
            <a:avLst/>
          </a:prstGeom>
          <a:solidFill>
            <a:srgbClr val="FFFFFF">
              <a:alpha val="705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3"/>
          <p:cNvSpPr/>
          <p:nvPr/>
        </p:nvSpPr>
        <p:spPr>
          <a:xfrm>
            <a:off x="731520" y="2240280"/>
            <a:ext cx="10728655" cy="13716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6000"/>
              <a:buFont typeface="Montserrat"/>
              <a:buNone/>
            </a:pPr>
            <a:r>
              <a:rPr lang="en-US" sz="6000" b="1" i="0" u="none" strike="noStrike" cap="none" dirty="0" err="1">
                <a:solidFill>
                  <a:srgbClr val="FFFFFF"/>
                </a:solidFill>
                <a:latin typeface="Montserrat"/>
                <a:ea typeface="Montserrat"/>
                <a:cs typeface="Montserrat"/>
                <a:sym typeface="Montserrat"/>
              </a:rPr>
              <a:t>Eprashala</a:t>
            </a:r>
            <a:endParaRPr sz="6000" b="0" i="0" u="none" strike="noStrike" cap="none" dirty="0">
              <a:solidFill>
                <a:schemeClr val="dk1"/>
              </a:solidFill>
              <a:latin typeface="Calibri"/>
              <a:ea typeface="Calibri"/>
              <a:cs typeface="Calibri"/>
              <a:sym typeface="Calibri"/>
            </a:endParaRPr>
          </a:p>
        </p:txBody>
      </p:sp>
      <p:sp>
        <p:nvSpPr>
          <p:cNvPr id="15" name="Google Shape;15;p3"/>
          <p:cNvSpPr/>
          <p:nvPr/>
        </p:nvSpPr>
        <p:spPr>
          <a:xfrm>
            <a:off x="1280160" y="3611880"/>
            <a:ext cx="9631375" cy="457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800"/>
              <a:buFont typeface="Calibri"/>
              <a:buNone/>
            </a:pPr>
            <a:r>
              <a:rPr lang="en-US" sz="1800" b="0" i="0" u="none" strike="noStrike" cap="none" dirty="0">
                <a:solidFill>
                  <a:srgbClr val="FFFFFF"/>
                </a:solidFill>
                <a:latin typeface="Calibri"/>
                <a:ea typeface="Calibri"/>
                <a:cs typeface="Calibri"/>
                <a:sym typeface="Calibri"/>
              </a:rPr>
              <a:t>Educating India :- modern and </a:t>
            </a:r>
            <a:r>
              <a:rPr lang="en-US" sz="1800" b="0" i="0" u="none" strike="noStrike" cap="none" dirty="0" err="1">
                <a:solidFill>
                  <a:srgbClr val="FFFFFF"/>
                </a:solidFill>
                <a:latin typeface="Calibri"/>
                <a:ea typeface="Calibri"/>
                <a:cs typeface="Calibri"/>
                <a:sym typeface="Calibri"/>
              </a:rPr>
              <a:t>vedic</a:t>
            </a:r>
            <a:r>
              <a:rPr lang="en-US" sz="1800" b="0" i="0" u="none" strike="noStrike" cap="none" dirty="0">
                <a:solidFill>
                  <a:srgbClr val="FFFFFF"/>
                </a:solidFill>
                <a:latin typeface="Calibri"/>
                <a:ea typeface="Calibri"/>
                <a:cs typeface="Calibri"/>
                <a:sym typeface="Calibri"/>
              </a:rPr>
              <a:t>.</a:t>
            </a:r>
            <a:endParaRPr sz="1800" b="0" i="0" u="none" strike="noStrike" cap="none" dirty="0">
              <a:solidFill>
                <a:schemeClr val="dk1"/>
              </a:solidFill>
              <a:latin typeface="Calibri"/>
              <a:ea typeface="Calibri"/>
              <a:cs typeface="Calibri"/>
              <a:sym typeface="Calibri"/>
            </a:endParaRPr>
          </a:p>
        </p:txBody>
      </p:sp>
      <p:pic>
        <p:nvPicPr>
          <p:cNvPr id="16" name="Google Shape;16;p3" descr="preencoded.png"/>
          <p:cNvPicPr preferRelativeResize="0"/>
          <p:nvPr/>
        </p:nvPicPr>
        <p:blipFill rotWithShape="1">
          <a:blip r:embed="rId4">
            <a:alphaModFix/>
          </a:blip>
          <a:srcRect/>
          <a:stretch/>
        </p:blipFill>
        <p:spPr>
          <a:xfrm>
            <a:off x="3169768" y="4343400"/>
            <a:ext cx="5852160" cy="457200"/>
          </a:xfrm>
          <a:prstGeom prst="rect">
            <a:avLst/>
          </a:prstGeom>
          <a:noFill/>
          <a:ln>
            <a:noFill/>
          </a:ln>
        </p:spPr>
      </p:pic>
      <p:sp>
        <p:nvSpPr>
          <p:cNvPr id="17" name="Google Shape;17;p3"/>
          <p:cNvSpPr/>
          <p:nvPr/>
        </p:nvSpPr>
        <p:spPr>
          <a:xfrm>
            <a:off x="3169768" y="4343400"/>
            <a:ext cx="585216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Montserrat"/>
              <a:buNone/>
            </a:pPr>
            <a:r>
              <a:rPr lang="en-US" sz="1200" b="1" i="0" u="none" strike="noStrike" cap="none" dirty="0">
                <a:solidFill>
                  <a:srgbClr val="FFFFFF"/>
                </a:solidFill>
                <a:latin typeface="Montserrat"/>
                <a:ea typeface="Montserrat"/>
                <a:cs typeface="Montserrat"/>
                <a:sym typeface="Montserrat"/>
              </a:rPr>
              <a:t>[Mr. Pramod Shinde]</a:t>
            </a:r>
            <a:endParaRPr sz="1200" b="0" i="0" u="none" strike="noStrike" cap="none" dirty="0">
              <a:solidFill>
                <a:schemeClr val="dk1"/>
              </a:solidFill>
              <a:latin typeface="Calibri"/>
              <a:ea typeface="Calibri"/>
              <a:cs typeface="Calibri"/>
              <a:sym typeface="Calibri"/>
            </a:endParaRPr>
          </a:p>
        </p:txBody>
      </p:sp>
      <p:sp>
        <p:nvSpPr>
          <p:cNvPr id="18" name="Google Shape;18;p3"/>
          <p:cNvSpPr/>
          <p:nvPr/>
        </p:nvSpPr>
        <p:spPr>
          <a:xfrm>
            <a:off x="914400" y="4956048"/>
            <a:ext cx="10362895" cy="2743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00"/>
              <a:buFont typeface="Calibri"/>
              <a:buNone/>
            </a:pPr>
            <a:r>
              <a:rPr lang="en-US" sz="1200" b="0" i="0" u="none" strike="noStrike" cap="none" dirty="0">
                <a:solidFill>
                  <a:srgbClr val="FFFFFF"/>
                </a:solidFill>
                <a:latin typeface="Calibri"/>
                <a:ea typeface="Calibri"/>
                <a:cs typeface="Calibri"/>
                <a:sym typeface="Calibri"/>
              </a:rPr>
              <a:t>Incubated and perfected at :- rural schools in Chandrapur )</a:t>
            </a:r>
            <a:endParaRPr sz="1200" b="0" i="0" u="none" strike="noStrike" cap="none" dirty="0">
              <a:solidFill>
                <a:schemeClr val="dk1"/>
              </a:solidFill>
              <a:latin typeface="Calibri"/>
              <a:ea typeface="Calibri"/>
              <a:cs typeface="Calibri"/>
              <a:sym typeface="Calibri"/>
            </a:endParaRPr>
          </a:p>
        </p:txBody>
      </p:sp>
      <p:sp>
        <p:nvSpPr>
          <p:cNvPr id="19" name="Google Shape;19;p3"/>
          <p:cNvSpPr/>
          <p:nvPr/>
        </p:nvSpPr>
        <p:spPr>
          <a:xfrm>
            <a:off x="2438248" y="5806440"/>
            <a:ext cx="7315200" cy="457200"/>
          </a:xfrm>
          <a:prstGeom prst="roundRect">
            <a:avLst>
              <a:gd name="adj" fmla="val 50000"/>
            </a:avLst>
          </a:prstGeom>
          <a:solidFill>
            <a:srgbClr val="FFFFFF">
              <a:alpha val="14117"/>
            </a:srgbClr>
          </a:solidFill>
          <a:ln w="9525" cap="flat" cmpd="sng">
            <a:solidFill>
              <a:srgbClr val="FFFFFF">
                <a:alpha val="4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2438248" y="5806440"/>
            <a:ext cx="7315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00" dirty="0"/>
              <a:t>First-generation computer engineer with 16+ years bridging the digital divide for rural Zila Parishad schools.</a:t>
            </a:r>
            <a:br>
              <a:rPr lang="en-US" sz="1400" dirty="0"/>
            </a:br>
            <a:r>
              <a:rPr lang="en-US" sz="1400" dirty="0"/>
              <a:t>Now building a complete AI eco system which covers education, health care, family planning, using modern and </a:t>
            </a:r>
            <a:r>
              <a:rPr lang="en-US" sz="1400" dirty="0" err="1"/>
              <a:t>vedic</a:t>
            </a:r>
            <a:r>
              <a:rPr lang="en-US" sz="1400" dirty="0"/>
              <a:t> tools.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
        <p:cNvGrpSpPr/>
        <p:nvPr/>
      </p:nvGrpSpPr>
      <p:grpSpPr>
        <a:xfrm>
          <a:off x="0" y="0"/>
          <a:ext cx="0" cy="0"/>
          <a:chOff x="0" y="0"/>
          <a:chExt cx="0" cy="0"/>
        </a:xfrm>
      </p:grpSpPr>
      <p:sp>
        <p:nvSpPr>
          <p:cNvPr id="26" name="Google Shape;26;p4"/>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27" name="Google Shape;27;p4"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28" name="Google Shape;28;p4"/>
          <p:cNvSpPr/>
          <p:nvPr/>
        </p:nvSpPr>
        <p:spPr>
          <a:xfrm>
            <a:off x="841248" y="1024128"/>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The Team</a:t>
            </a:r>
            <a:endParaRPr sz="2700">
              <a:solidFill>
                <a:schemeClr val="dk1"/>
              </a:solidFill>
              <a:latin typeface="Calibri"/>
              <a:ea typeface="Calibri"/>
              <a:cs typeface="Calibri"/>
              <a:sym typeface="Calibri"/>
            </a:endParaRPr>
          </a:p>
        </p:txBody>
      </p:sp>
      <p:sp>
        <p:nvSpPr>
          <p:cNvPr id="29" name="Google Shape;29;p4"/>
          <p:cNvSpPr/>
          <p:nvPr/>
        </p:nvSpPr>
        <p:spPr>
          <a:xfrm>
            <a:off x="529133" y="1882882"/>
            <a:ext cx="5011966" cy="3854704"/>
          </a:xfrm>
          <a:prstGeom prst="roundRect">
            <a:avLst>
              <a:gd name="adj" fmla="val 4706"/>
            </a:avLst>
          </a:prstGeom>
          <a:solidFill>
            <a:srgbClr val="FFFFFF"/>
          </a:solidFill>
          <a:ln w="12700" cap="flat" cmpd="sng">
            <a:solidFill>
              <a:srgbClr val="E5E4F1"/>
            </a:solidFill>
            <a:prstDash val="solid"/>
            <a:round/>
            <a:headEnd type="none" w="sm" len="sm"/>
            <a:tailEnd type="none" w="sm" len="sm"/>
          </a:ln>
          <a:effectLst>
            <a:outerShdw blurRad="76200" dist="25400" dir="5400000" algn="bl" rotWithShape="0">
              <a:srgbClr val="1B1838">
                <a:alpha val="705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0;p4" descr="preencoded.png"/>
          <p:cNvPicPr preferRelativeResize="0"/>
          <p:nvPr/>
        </p:nvPicPr>
        <p:blipFill rotWithShape="1">
          <a:blip r:embed="rId4">
            <a:alphaModFix/>
          </a:blip>
          <a:srcRect/>
          <a:stretch/>
        </p:blipFill>
        <p:spPr>
          <a:xfrm>
            <a:off x="2652534" y="2086864"/>
            <a:ext cx="914400" cy="914400"/>
          </a:xfrm>
          <a:prstGeom prst="rect">
            <a:avLst/>
          </a:prstGeom>
          <a:noFill/>
          <a:ln>
            <a:noFill/>
          </a:ln>
        </p:spPr>
      </p:pic>
      <p:pic>
        <p:nvPicPr>
          <p:cNvPr id="31" name="Google Shape;31;p4" descr="preencoded.png"/>
          <p:cNvPicPr preferRelativeResize="0"/>
          <p:nvPr/>
        </p:nvPicPr>
        <p:blipFill rotWithShape="1">
          <a:blip r:embed="rId5">
            <a:alphaModFix/>
          </a:blip>
          <a:srcRect/>
          <a:stretch/>
        </p:blipFill>
        <p:spPr>
          <a:xfrm>
            <a:off x="1970532" y="2331720"/>
            <a:ext cx="438912" cy="438912"/>
          </a:xfrm>
          <a:prstGeom prst="rect">
            <a:avLst/>
          </a:prstGeom>
          <a:noFill/>
          <a:ln>
            <a:noFill/>
          </a:ln>
        </p:spPr>
      </p:pic>
      <p:sp>
        <p:nvSpPr>
          <p:cNvPr id="32" name="Google Shape;32;p4"/>
          <p:cNvSpPr/>
          <p:nvPr/>
        </p:nvSpPr>
        <p:spPr>
          <a:xfrm>
            <a:off x="566927" y="3154680"/>
            <a:ext cx="5083289"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500"/>
              <a:buFont typeface="Montserrat"/>
              <a:buNone/>
            </a:pPr>
            <a:r>
              <a:rPr lang="en-US" sz="1500" dirty="0">
                <a:solidFill>
                  <a:schemeClr val="dk1"/>
                </a:solidFill>
                <a:latin typeface="Calibri"/>
                <a:ea typeface="Calibri"/>
                <a:cs typeface="Calibri"/>
                <a:sym typeface="Calibri"/>
              </a:rPr>
              <a:t>Mr. Pramod Shinde</a:t>
            </a:r>
            <a:endParaRPr sz="1500" dirty="0">
              <a:solidFill>
                <a:schemeClr val="dk1"/>
              </a:solidFill>
              <a:latin typeface="Calibri"/>
              <a:ea typeface="Calibri"/>
              <a:cs typeface="Calibri"/>
              <a:sym typeface="Calibri"/>
            </a:endParaRPr>
          </a:p>
        </p:txBody>
      </p:sp>
      <p:sp>
        <p:nvSpPr>
          <p:cNvPr id="33" name="Google Shape;33;p4"/>
          <p:cNvSpPr/>
          <p:nvPr/>
        </p:nvSpPr>
        <p:spPr>
          <a:xfrm>
            <a:off x="566928" y="3447288"/>
            <a:ext cx="5083288"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186B"/>
              </a:buClr>
              <a:buSzPts val="1050"/>
              <a:buFont typeface="Calibri"/>
              <a:buNone/>
            </a:pPr>
            <a:r>
              <a:rPr lang="en-US" sz="1050" b="1" dirty="0">
                <a:solidFill>
                  <a:srgbClr val="C8186B"/>
                </a:solidFill>
                <a:latin typeface="Calibri"/>
                <a:ea typeface="Calibri"/>
                <a:cs typeface="Calibri"/>
                <a:sym typeface="Calibri"/>
              </a:rPr>
              <a:t>[CEO &amp; Co-founder]</a:t>
            </a:r>
            <a:endParaRPr sz="1050" dirty="0">
              <a:solidFill>
                <a:schemeClr val="dk1"/>
              </a:solidFill>
              <a:latin typeface="Calibri"/>
              <a:ea typeface="Calibri"/>
              <a:cs typeface="Calibri"/>
              <a:sym typeface="Calibri"/>
            </a:endParaRPr>
          </a:p>
        </p:txBody>
      </p:sp>
      <p:sp>
        <p:nvSpPr>
          <p:cNvPr id="34" name="Google Shape;34;p4"/>
          <p:cNvSpPr/>
          <p:nvPr/>
        </p:nvSpPr>
        <p:spPr>
          <a:xfrm>
            <a:off x="1732788" y="4256532"/>
            <a:ext cx="2697480" cy="7320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950"/>
              <a:buFont typeface="Calibri"/>
              <a:buNone/>
            </a:pPr>
            <a:r>
              <a:rPr lang="en-US" sz="950" i="1" dirty="0">
                <a:solidFill>
                  <a:srgbClr val="55586F"/>
                </a:solidFill>
                <a:latin typeface="Calibri"/>
                <a:ea typeface="Calibri"/>
                <a:cs typeface="Calibri"/>
                <a:sym typeface="Calibri"/>
              </a:rPr>
              <a:t>A social entrepreneur , striving day and night for the upliftment of Bharat using modern and ancient technologies. </a:t>
            </a:r>
            <a:endParaRPr sz="950" dirty="0">
              <a:solidFill>
                <a:schemeClr val="dk1"/>
              </a:solidFill>
              <a:latin typeface="Calibri"/>
              <a:ea typeface="Calibri"/>
              <a:cs typeface="Calibri"/>
              <a:sym typeface="Calibri"/>
            </a:endParaRPr>
          </a:p>
        </p:txBody>
      </p:sp>
      <p:sp>
        <p:nvSpPr>
          <p:cNvPr id="38" name="Google Shape;38;p4"/>
          <p:cNvSpPr/>
          <p:nvPr/>
        </p:nvSpPr>
        <p:spPr>
          <a:xfrm>
            <a:off x="4247388" y="2601468"/>
            <a:ext cx="32461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500"/>
              <a:buFont typeface="Montserrat"/>
              <a:buNone/>
            </a:pPr>
            <a:endParaRPr sz="1500" dirty="0">
              <a:solidFill>
                <a:schemeClr val="dk1"/>
              </a:solidFill>
              <a:latin typeface="Calibri"/>
              <a:ea typeface="Calibri"/>
              <a:cs typeface="Calibri"/>
              <a:sym typeface="Calibri"/>
            </a:endParaRPr>
          </a:p>
        </p:txBody>
      </p:sp>
      <p:sp>
        <p:nvSpPr>
          <p:cNvPr id="39" name="Google Shape;39;p4"/>
          <p:cNvSpPr/>
          <p:nvPr/>
        </p:nvSpPr>
        <p:spPr>
          <a:xfrm>
            <a:off x="4087368" y="3447288"/>
            <a:ext cx="324612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186B"/>
              </a:buClr>
              <a:buSzPts val="1050"/>
              <a:buFont typeface="Calibri"/>
              <a:buNone/>
            </a:pPr>
            <a:endParaRPr sz="1050" dirty="0">
              <a:solidFill>
                <a:schemeClr val="dk1"/>
              </a:solidFill>
              <a:latin typeface="Calibri"/>
              <a:ea typeface="Calibri"/>
              <a:cs typeface="Calibri"/>
              <a:sym typeface="Calibri"/>
            </a:endParaRPr>
          </a:p>
        </p:txBody>
      </p:sp>
      <p:sp>
        <p:nvSpPr>
          <p:cNvPr id="40" name="Google Shape;40;p4"/>
          <p:cNvSpPr/>
          <p:nvPr/>
        </p:nvSpPr>
        <p:spPr>
          <a:xfrm>
            <a:off x="4361688" y="3703320"/>
            <a:ext cx="2697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950"/>
              <a:buFont typeface="Calibri"/>
              <a:buNone/>
            </a:pPr>
            <a:endParaRPr sz="950" dirty="0">
              <a:solidFill>
                <a:schemeClr val="dk1"/>
              </a:solidFill>
              <a:latin typeface="Calibri"/>
              <a:ea typeface="Calibri"/>
              <a:cs typeface="Calibri"/>
              <a:sym typeface="Calibri"/>
            </a:endParaRPr>
          </a:p>
        </p:txBody>
      </p:sp>
      <p:sp>
        <p:nvSpPr>
          <p:cNvPr id="41" name="Google Shape;41;p4"/>
          <p:cNvSpPr/>
          <p:nvPr/>
        </p:nvSpPr>
        <p:spPr>
          <a:xfrm>
            <a:off x="6541478" y="1735015"/>
            <a:ext cx="5083290" cy="4007417"/>
          </a:xfrm>
          <a:prstGeom prst="roundRect">
            <a:avLst>
              <a:gd name="adj" fmla="val 5447"/>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Mr. Narendra Shinde</a:t>
            </a:r>
            <a:br>
              <a:rPr lang="en-US" dirty="0"/>
            </a:br>
            <a:r>
              <a:rPr lang="en-US" dirty="0"/>
              <a:t>Mr. Prasad Vaidya</a:t>
            </a:r>
          </a:p>
          <a:p>
            <a:pPr marL="0" lvl="0" indent="0" algn="l" rtl="0">
              <a:spcBef>
                <a:spcPts val="0"/>
              </a:spcBef>
              <a:spcAft>
                <a:spcPts val="0"/>
              </a:spcAft>
              <a:buNone/>
            </a:pPr>
            <a:r>
              <a:rPr lang="en-US" dirty="0"/>
              <a:t>Mr. Arun Shinde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Guided by a collective of grassroots educators, forward-thinking District Collectors, and deep-tech engineers who provide critical on-ground operational insights and policy alignment for rural scaling.</a:t>
            </a:r>
            <a:endParaRPr dirty="0"/>
          </a:p>
        </p:txBody>
      </p:sp>
      <p:pic>
        <p:nvPicPr>
          <p:cNvPr id="42" name="Google Shape;42;p4" descr="preencoded.png"/>
          <p:cNvPicPr preferRelativeResize="0"/>
          <p:nvPr/>
        </p:nvPicPr>
        <p:blipFill rotWithShape="1">
          <a:blip r:embed="rId6">
            <a:alphaModFix/>
          </a:blip>
          <a:srcRect/>
          <a:stretch/>
        </p:blipFill>
        <p:spPr>
          <a:xfrm>
            <a:off x="7808976" y="2075688"/>
            <a:ext cx="384048" cy="384048"/>
          </a:xfrm>
          <a:prstGeom prst="rect">
            <a:avLst/>
          </a:prstGeom>
          <a:noFill/>
          <a:ln>
            <a:noFill/>
          </a:ln>
        </p:spPr>
      </p:pic>
      <p:pic>
        <p:nvPicPr>
          <p:cNvPr id="43" name="Google Shape;43;p4" descr="preencoded.png"/>
          <p:cNvPicPr preferRelativeResize="0"/>
          <p:nvPr/>
        </p:nvPicPr>
        <p:blipFill rotWithShape="1">
          <a:blip r:embed="rId7">
            <a:alphaModFix/>
          </a:blip>
          <a:srcRect/>
          <a:stretch/>
        </p:blipFill>
        <p:spPr>
          <a:xfrm>
            <a:off x="7924190" y="2190902"/>
            <a:ext cx="153619" cy="153619"/>
          </a:xfrm>
          <a:prstGeom prst="rect">
            <a:avLst/>
          </a:prstGeom>
          <a:noFill/>
          <a:ln>
            <a:noFill/>
          </a:ln>
        </p:spPr>
      </p:pic>
      <p:sp>
        <p:nvSpPr>
          <p:cNvPr id="44" name="Google Shape;44;p4"/>
          <p:cNvSpPr/>
          <p:nvPr/>
        </p:nvSpPr>
        <p:spPr>
          <a:xfrm>
            <a:off x="8307324" y="2003826"/>
            <a:ext cx="3102559"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400"/>
              <a:buFont typeface="Montserrat"/>
              <a:buNone/>
            </a:pPr>
            <a:r>
              <a:rPr lang="en-US" sz="1400" b="1">
                <a:solidFill>
                  <a:srgbClr val="1B1838"/>
                </a:solidFill>
                <a:latin typeface="Montserrat"/>
                <a:ea typeface="Montserrat"/>
                <a:cs typeface="Montserrat"/>
                <a:sym typeface="Montserrat"/>
              </a:rPr>
              <a:t>Advisors &amp; Mentors</a:t>
            </a:r>
            <a:endParaRPr sz="1400">
              <a:solidFill>
                <a:schemeClr val="dk1"/>
              </a:solidFill>
              <a:latin typeface="Calibri"/>
              <a:ea typeface="Calibri"/>
              <a:cs typeface="Calibri"/>
              <a:sym typeface="Calibri"/>
            </a:endParaRPr>
          </a:p>
        </p:txBody>
      </p:sp>
      <p:sp>
        <p:nvSpPr>
          <p:cNvPr id="45" name="Google Shape;45;p4"/>
          <p:cNvSpPr/>
          <p:nvPr/>
        </p:nvSpPr>
        <p:spPr>
          <a:xfrm>
            <a:off x="8321040" y="2350008"/>
            <a:ext cx="3102559"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586F"/>
              </a:buClr>
              <a:buSzPts val="1000"/>
              <a:buFont typeface="Calibri"/>
              <a:buNone/>
            </a:pPr>
            <a:r>
              <a:rPr lang="en-US" sz="1000">
                <a:solidFill>
                  <a:srgbClr val="55586F"/>
                </a:solidFill>
                <a:latin typeface="Calibri"/>
                <a:ea typeface="Calibri"/>
                <a:cs typeface="Calibri"/>
                <a:sym typeface="Calibri"/>
              </a:rPr>
              <a:t>Who's guiding you, and the value they bring.</a:t>
            </a:r>
            <a:endParaRPr sz="1000">
              <a:solidFill>
                <a:schemeClr val="dk1"/>
              </a:solidFill>
              <a:latin typeface="Calibri"/>
              <a:ea typeface="Calibri"/>
              <a:cs typeface="Calibri"/>
              <a:sym typeface="Calibri"/>
            </a:endParaRPr>
          </a:p>
        </p:txBody>
      </p:sp>
      <p:pic>
        <p:nvPicPr>
          <p:cNvPr id="46" name="Google Shape;46;p4"/>
          <p:cNvPicPr preferRelativeResize="0"/>
          <p:nvPr/>
        </p:nvPicPr>
        <p:blipFill rotWithShape="1">
          <a:blip r:embed="rId8">
            <a:alphaModFix/>
          </a:blip>
          <a:srcRect r="55655"/>
          <a:stretch/>
        </p:blipFill>
        <p:spPr>
          <a:xfrm>
            <a:off x="566928" y="302768"/>
            <a:ext cx="323705" cy="314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
        <p:cNvGrpSpPr/>
        <p:nvPr/>
      </p:nvGrpSpPr>
      <p:grpSpPr>
        <a:xfrm>
          <a:off x="0" y="0"/>
          <a:ext cx="0" cy="0"/>
          <a:chOff x="0" y="0"/>
          <a:chExt cx="0" cy="0"/>
        </a:xfrm>
      </p:grpSpPr>
      <p:pic>
        <p:nvPicPr>
          <p:cNvPr id="53" name="Google Shape;53;p5"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54" name="Google Shape;54;p5"/>
          <p:cNvSpPr/>
          <p:nvPr/>
        </p:nvSpPr>
        <p:spPr>
          <a:xfrm>
            <a:off x="795528" y="1019556"/>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The Problem</a:t>
            </a:r>
            <a:endParaRPr sz="2700">
              <a:solidFill>
                <a:schemeClr val="dk1"/>
              </a:solidFill>
              <a:latin typeface="Calibri"/>
              <a:ea typeface="Calibri"/>
              <a:cs typeface="Calibri"/>
              <a:sym typeface="Calibri"/>
            </a:endParaRPr>
          </a:p>
        </p:txBody>
      </p:sp>
      <p:sp>
        <p:nvSpPr>
          <p:cNvPr id="55" name="Google Shape;55;p5"/>
          <p:cNvSpPr/>
          <p:nvPr/>
        </p:nvSpPr>
        <p:spPr>
          <a:xfrm>
            <a:off x="566928" y="1965960"/>
            <a:ext cx="6126480" cy="1033272"/>
          </a:xfrm>
          <a:prstGeom prst="roundRect">
            <a:avLst>
              <a:gd name="adj" fmla="val 12821"/>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 name="Google Shape;56;p5" descr="preencoded.png"/>
          <p:cNvPicPr preferRelativeResize="0"/>
          <p:nvPr/>
        </p:nvPicPr>
        <p:blipFill rotWithShape="1">
          <a:blip r:embed="rId4">
            <a:alphaModFix/>
          </a:blip>
          <a:srcRect/>
          <a:stretch/>
        </p:blipFill>
        <p:spPr>
          <a:xfrm>
            <a:off x="749808" y="2290572"/>
            <a:ext cx="384048" cy="384048"/>
          </a:xfrm>
          <a:prstGeom prst="rect">
            <a:avLst/>
          </a:prstGeom>
          <a:noFill/>
          <a:ln>
            <a:noFill/>
          </a:ln>
        </p:spPr>
      </p:pic>
      <p:sp>
        <p:nvSpPr>
          <p:cNvPr id="57" name="Google Shape;57;p5"/>
          <p:cNvSpPr/>
          <p:nvPr/>
        </p:nvSpPr>
        <p:spPr>
          <a:xfrm>
            <a:off x="749808" y="2290572"/>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Montserrat"/>
              <a:buNone/>
            </a:pPr>
            <a:r>
              <a:rPr lang="en-US" sz="1400" b="1">
                <a:solidFill>
                  <a:srgbClr val="FFFFFF"/>
                </a:solidFill>
                <a:latin typeface="Montserrat"/>
                <a:ea typeface="Montserrat"/>
                <a:cs typeface="Montserrat"/>
                <a:sym typeface="Montserrat"/>
              </a:rPr>
              <a:t>1</a:t>
            </a:r>
            <a:endParaRPr sz="1400">
              <a:solidFill>
                <a:schemeClr val="dk1"/>
              </a:solidFill>
              <a:latin typeface="Calibri"/>
              <a:ea typeface="Calibri"/>
              <a:cs typeface="Calibri"/>
              <a:sym typeface="Calibri"/>
            </a:endParaRPr>
          </a:p>
        </p:txBody>
      </p:sp>
      <p:sp>
        <p:nvSpPr>
          <p:cNvPr id="58" name="Google Shape;58;p5"/>
          <p:cNvSpPr/>
          <p:nvPr/>
        </p:nvSpPr>
        <p:spPr>
          <a:xfrm>
            <a:off x="1316736" y="2125980"/>
            <a:ext cx="521208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250"/>
              <a:buFont typeface="Calibri"/>
              <a:buNone/>
            </a:pPr>
            <a:r>
              <a:rPr lang="en-US" sz="1600" dirty="0"/>
              <a:t>India suffers from a severe rural-to-urban "brain drain" and relies heavily on foreign AI hardware/software, leaving our grassroots talent and ancient knowledge disconnected from modern technological infrastructure. </a:t>
            </a:r>
            <a:endParaRPr sz="1250" dirty="0">
              <a:solidFill>
                <a:schemeClr val="dk1"/>
              </a:solidFill>
              <a:latin typeface="Calibri"/>
              <a:ea typeface="Calibri"/>
              <a:cs typeface="Calibri"/>
              <a:sym typeface="Calibri"/>
            </a:endParaRPr>
          </a:p>
        </p:txBody>
      </p:sp>
      <p:sp>
        <p:nvSpPr>
          <p:cNvPr id="59" name="Google Shape;59;p5"/>
          <p:cNvSpPr/>
          <p:nvPr/>
        </p:nvSpPr>
        <p:spPr>
          <a:xfrm>
            <a:off x="566928" y="3379724"/>
            <a:ext cx="6126480" cy="1033272"/>
          </a:xfrm>
          <a:prstGeom prst="roundRect">
            <a:avLst>
              <a:gd name="adj" fmla="val 12821"/>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 name="Google Shape;60;p5" descr="preencoded.png"/>
          <p:cNvPicPr preferRelativeResize="0"/>
          <p:nvPr/>
        </p:nvPicPr>
        <p:blipFill rotWithShape="1">
          <a:blip r:embed="rId4">
            <a:alphaModFix/>
          </a:blip>
          <a:srcRect/>
          <a:stretch/>
        </p:blipFill>
        <p:spPr>
          <a:xfrm>
            <a:off x="749808" y="3709924"/>
            <a:ext cx="384048" cy="384048"/>
          </a:xfrm>
          <a:prstGeom prst="rect">
            <a:avLst/>
          </a:prstGeom>
          <a:noFill/>
          <a:ln>
            <a:noFill/>
          </a:ln>
        </p:spPr>
      </p:pic>
      <p:sp>
        <p:nvSpPr>
          <p:cNvPr id="61" name="Google Shape;61;p5"/>
          <p:cNvSpPr/>
          <p:nvPr/>
        </p:nvSpPr>
        <p:spPr>
          <a:xfrm>
            <a:off x="749808" y="3709924"/>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Montserrat"/>
              <a:buNone/>
            </a:pPr>
            <a:r>
              <a:rPr lang="en-US" sz="1400" b="1">
                <a:solidFill>
                  <a:srgbClr val="FFFFFF"/>
                </a:solidFill>
                <a:latin typeface="Montserrat"/>
                <a:ea typeface="Montserrat"/>
                <a:cs typeface="Montserrat"/>
                <a:sym typeface="Montserrat"/>
              </a:rPr>
              <a:t>2</a:t>
            </a:r>
            <a:endParaRPr sz="1400">
              <a:solidFill>
                <a:schemeClr val="dk1"/>
              </a:solidFill>
              <a:latin typeface="Calibri"/>
              <a:ea typeface="Calibri"/>
              <a:cs typeface="Calibri"/>
              <a:sym typeface="Calibri"/>
            </a:endParaRPr>
          </a:p>
        </p:txBody>
      </p:sp>
      <p:sp>
        <p:nvSpPr>
          <p:cNvPr id="62" name="Google Shape;62;p5"/>
          <p:cNvSpPr/>
          <p:nvPr/>
        </p:nvSpPr>
        <p:spPr>
          <a:xfrm>
            <a:off x="1316736" y="3545332"/>
            <a:ext cx="521208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250"/>
              <a:buFont typeface="Calibri"/>
              <a:buNone/>
            </a:pPr>
            <a:r>
              <a:rPr lang="en-US" sz="1600" dirty="0"/>
              <a:t>Students in rural (Zila Parishad) schools lacking internet access, mid-career professionals facing job insecurity, and rural teachers burdened with non-academic duties. </a:t>
            </a:r>
            <a:endParaRPr sz="1250" dirty="0">
              <a:solidFill>
                <a:schemeClr val="dk1"/>
              </a:solidFill>
              <a:latin typeface="Calibri"/>
              <a:ea typeface="Calibri"/>
              <a:cs typeface="Calibri"/>
              <a:sym typeface="Calibri"/>
            </a:endParaRPr>
          </a:p>
        </p:txBody>
      </p:sp>
      <p:sp>
        <p:nvSpPr>
          <p:cNvPr id="63" name="Google Shape;63;p5"/>
          <p:cNvSpPr/>
          <p:nvPr/>
        </p:nvSpPr>
        <p:spPr>
          <a:xfrm>
            <a:off x="566928" y="4793488"/>
            <a:ext cx="6126480" cy="1033272"/>
          </a:xfrm>
          <a:prstGeom prst="roundRect">
            <a:avLst>
              <a:gd name="adj" fmla="val 12821"/>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 name="Google Shape;64;p5" descr="preencoded.png"/>
          <p:cNvPicPr preferRelativeResize="0"/>
          <p:nvPr/>
        </p:nvPicPr>
        <p:blipFill rotWithShape="1">
          <a:blip r:embed="rId4">
            <a:alphaModFix/>
          </a:blip>
          <a:srcRect/>
          <a:stretch/>
        </p:blipFill>
        <p:spPr>
          <a:xfrm>
            <a:off x="749808" y="5118100"/>
            <a:ext cx="384048" cy="384048"/>
          </a:xfrm>
          <a:prstGeom prst="rect">
            <a:avLst/>
          </a:prstGeom>
          <a:noFill/>
          <a:ln>
            <a:noFill/>
          </a:ln>
        </p:spPr>
      </p:pic>
      <p:sp>
        <p:nvSpPr>
          <p:cNvPr id="65" name="Google Shape;65;p5"/>
          <p:cNvSpPr/>
          <p:nvPr/>
        </p:nvSpPr>
        <p:spPr>
          <a:xfrm>
            <a:off x="749808" y="511810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Montserrat"/>
              <a:buNone/>
            </a:pPr>
            <a:r>
              <a:rPr lang="en-US" sz="1400" b="1">
                <a:solidFill>
                  <a:srgbClr val="FFFFFF"/>
                </a:solidFill>
                <a:latin typeface="Montserrat"/>
                <a:ea typeface="Montserrat"/>
                <a:cs typeface="Montserrat"/>
                <a:sym typeface="Montserrat"/>
              </a:rPr>
              <a:t>3</a:t>
            </a:r>
            <a:endParaRPr sz="1400">
              <a:solidFill>
                <a:schemeClr val="dk1"/>
              </a:solidFill>
              <a:latin typeface="Calibri"/>
              <a:ea typeface="Calibri"/>
              <a:cs typeface="Calibri"/>
              <a:sym typeface="Calibri"/>
            </a:endParaRPr>
          </a:p>
        </p:txBody>
      </p:sp>
      <p:sp>
        <p:nvSpPr>
          <p:cNvPr id="66" name="Google Shape;66;p5"/>
          <p:cNvSpPr/>
          <p:nvPr/>
        </p:nvSpPr>
        <p:spPr>
          <a:xfrm>
            <a:off x="1316736" y="4953508"/>
            <a:ext cx="5212080"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250"/>
              <a:buFont typeface="Calibri"/>
              <a:buNone/>
            </a:pPr>
            <a:r>
              <a:rPr lang="en-US" sz="1600" b="1" dirty="0"/>
              <a:t>3. Why it matters:</a:t>
            </a:r>
            <a:r>
              <a:rPr lang="en-US" sz="1600" dirty="0"/>
              <a:t> If left unsolved, millions of grassroots talents remain untapped, and India remains a mere consumer of foreign AI rather than an innovator and preserver of its own heritage. </a:t>
            </a:r>
            <a:endParaRPr sz="1250" dirty="0">
              <a:solidFill>
                <a:schemeClr val="dk1"/>
              </a:solidFill>
              <a:latin typeface="Calibri"/>
              <a:ea typeface="Calibri"/>
              <a:cs typeface="Calibri"/>
              <a:sym typeface="Calibri"/>
            </a:endParaRPr>
          </a:p>
        </p:txBody>
      </p:sp>
      <p:pic>
        <p:nvPicPr>
          <p:cNvPr id="67" name="Google Shape;67;p5" descr="preencoded.png"/>
          <p:cNvPicPr preferRelativeResize="0"/>
          <p:nvPr/>
        </p:nvPicPr>
        <p:blipFill rotWithShape="1">
          <a:blip r:embed="rId5">
            <a:alphaModFix/>
          </a:blip>
          <a:srcRect/>
          <a:stretch/>
        </p:blipFill>
        <p:spPr>
          <a:xfrm>
            <a:off x="7013448" y="1965960"/>
            <a:ext cx="4611319" cy="3860800"/>
          </a:xfrm>
          <a:prstGeom prst="rect">
            <a:avLst/>
          </a:prstGeom>
          <a:noFill/>
          <a:ln>
            <a:noFill/>
          </a:ln>
        </p:spPr>
      </p:pic>
      <p:pic>
        <p:nvPicPr>
          <p:cNvPr id="68" name="Google Shape;68;p5" descr="preencoded.png"/>
          <p:cNvPicPr preferRelativeResize="0"/>
          <p:nvPr/>
        </p:nvPicPr>
        <p:blipFill rotWithShape="1">
          <a:blip r:embed="rId6">
            <a:alphaModFix/>
          </a:blip>
          <a:srcRect/>
          <a:stretch/>
        </p:blipFill>
        <p:spPr>
          <a:xfrm>
            <a:off x="7306056" y="2276856"/>
            <a:ext cx="457200" cy="457200"/>
          </a:xfrm>
          <a:prstGeom prst="rect">
            <a:avLst/>
          </a:prstGeom>
          <a:noFill/>
          <a:ln>
            <a:noFill/>
          </a:ln>
        </p:spPr>
      </p:pic>
      <p:sp>
        <p:nvSpPr>
          <p:cNvPr id="69" name="Google Shape;69;p5"/>
          <p:cNvSpPr/>
          <p:nvPr/>
        </p:nvSpPr>
        <p:spPr>
          <a:xfrm>
            <a:off x="7306056" y="2807208"/>
            <a:ext cx="4154119"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Montserrat"/>
              <a:buNone/>
            </a:pPr>
            <a:r>
              <a:rPr lang="en-US" sz="1050" b="1">
                <a:solidFill>
                  <a:srgbClr val="FFFFFF"/>
                </a:solidFill>
                <a:latin typeface="Montserrat"/>
                <a:ea typeface="Montserrat"/>
                <a:cs typeface="Montserrat"/>
                <a:sym typeface="Montserrat"/>
              </a:rPr>
              <a:t>KEY STAT</a:t>
            </a:r>
            <a:endParaRPr sz="1050">
              <a:solidFill>
                <a:schemeClr val="dk1"/>
              </a:solidFill>
              <a:latin typeface="Calibri"/>
              <a:ea typeface="Calibri"/>
              <a:cs typeface="Calibri"/>
              <a:sym typeface="Calibri"/>
            </a:endParaRPr>
          </a:p>
        </p:txBody>
      </p:sp>
      <p:sp>
        <p:nvSpPr>
          <p:cNvPr id="70" name="Google Shape;70;p5"/>
          <p:cNvSpPr/>
          <p:nvPr/>
        </p:nvSpPr>
        <p:spPr>
          <a:xfrm>
            <a:off x="7306056" y="3063240"/>
            <a:ext cx="4026103"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900"/>
              <a:buFont typeface="Montserrat"/>
              <a:buNone/>
            </a:pPr>
            <a:endParaRPr sz="1900" dirty="0">
              <a:solidFill>
                <a:schemeClr val="dk1"/>
              </a:solidFill>
              <a:latin typeface="Calibri"/>
              <a:ea typeface="Calibri"/>
              <a:cs typeface="Calibri"/>
              <a:sym typeface="Calibri"/>
            </a:endParaRPr>
          </a:p>
        </p:txBody>
      </p:sp>
      <p:sp>
        <p:nvSpPr>
          <p:cNvPr id="71" name="Google Shape;71;p5"/>
          <p:cNvSpPr/>
          <p:nvPr/>
        </p:nvSpPr>
        <p:spPr>
          <a:xfrm>
            <a:off x="7416089" y="5246116"/>
            <a:ext cx="4026103"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400" dirty="0"/>
              <a:t>Source: Office of the Registrar General, India.</a:t>
            </a:r>
            <a:endParaRPr sz="1100" dirty="0">
              <a:solidFill>
                <a:schemeClr val="dk1"/>
              </a:solidFill>
              <a:latin typeface="Calibri"/>
              <a:ea typeface="Calibri"/>
              <a:cs typeface="Calibri"/>
              <a:sym typeface="Calibri"/>
            </a:endParaRPr>
          </a:p>
        </p:txBody>
      </p:sp>
      <p:sp>
        <p:nvSpPr>
          <p:cNvPr id="72" name="Google Shape;72;p5"/>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73" name="Google Shape;73;p5"/>
          <p:cNvPicPr preferRelativeResize="0"/>
          <p:nvPr/>
        </p:nvPicPr>
        <p:blipFill rotWithShape="1">
          <a:blip r:embed="rId7">
            <a:alphaModFix/>
          </a:blip>
          <a:srcRect r="55655"/>
          <a:stretch/>
        </p:blipFill>
        <p:spPr>
          <a:xfrm>
            <a:off x="566928" y="302768"/>
            <a:ext cx="323705" cy="314960"/>
          </a:xfrm>
          <a:prstGeom prst="rect">
            <a:avLst/>
          </a:prstGeom>
          <a:noFill/>
          <a:ln>
            <a:noFill/>
          </a:ln>
        </p:spPr>
      </p:pic>
      <p:pic>
        <p:nvPicPr>
          <p:cNvPr id="3" name="Picture 2">
            <a:extLst>
              <a:ext uri="{FF2B5EF4-FFF2-40B4-BE49-F238E27FC236}">
                <a16:creationId xmlns:a16="http://schemas.microsoft.com/office/drawing/2014/main" id="{7F524247-EB9F-4249-A51A-EE3E3FC3D87D}"/>
              </a:ext>
            </a:extLst>
          </p:cNvPr>
          <p:cNvPicPr>
            <a:picLocks noChangeAspect="1"/>
          </p:cNvPicPr>
          <p:nvPr/>
        </p:nvPicPr>
        <p:blipFill>
          <a:blip r:embed="rId8"/>
          <a:stretch>
            <a:fillRect/>
          </a:stretch>
        </p:blipFill>
        <p:spPr>
          <a:xfrm>
            <a:off x="7127631" y="2092991"/>
            <a:ext cx="4332544" cy="31531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
        <p:cNvGrpSpPr/>
        <p:nvPr/>
      </p:nvGrpSpPr>
      <p:grpSpPr>
        <a:xfrm>
          <a:off x="0" y="0"/>
          <a:ext cx="0" cy="0"/>
          <a:chOff x="0" y="0"/>
          <a:chExt cx="0" cy="0"/>
        </a:xfrm>
      </p:grpSpPr>
      <p:pic>
        <p:nvPicPr>
          <p:cNvPr id="79" name="Google Shape;79;p6"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80" name="Google Shape;80;p6"/>
          <p:cNvSpPr/>
          <p:nvPr/>
        </p:nvSpPr>
        <p:spPr>
          <a:xfrm>
            <a:off x="800100" y="1024128"/>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The Solution</a:t>
            </a:r>
            <a:endParaRPr sz="2700">
              <a:solidFill>
                <a:schemeClr val="dk1"/>
              </a:solidFill>
              <a:latin typeface="Calibri"/>
              <a:ea typeface="Calibri"/>
              <a:cs typeface="Calibri"/>
              <a:sym typeface="Calibri"/>
            </a:endParaRPr>
          </a:p>
        </p:txBody>
      </p:sp>
      <p:sp>
        <p:nvSpPr>
          <p:cNvPr id="81" name="Google Shape;81;p6"/>
          <p:cNvSpPr/>
          <p:nvPr/>
        </p:nvSpPr>
        <p:spPr>
          <a:xfrm>
            <a:off x="566928" y="1920240"/>
            <a:ext cx="5852160" cy="365760"/>
          </a:xfrm>
          <a:prstGeom prst="rect">
            <a:avLst/>
          </a:prstGeom>
          <a:noFill/>
          <a:ln>
            <a:noFill/>
          </a:ln>
        </p:spPr>
        <p:txBody>
          <a:bodyPr spcFirstLastPara="1" wrap="square" lIns="0" tIns="0" rIns="0" bIns="0" anchor="ctr" anchorCtr="0">
            <a:noAutofit/>
          </a:bodyPr>
          <a:lstStyle/>
          <a:p>
            <a:r>
              <a:rPr lang="en-US" sz="2400" b="1" dirty="0" err="1"/>
              <a:t>ePrashala</a:t>
            </a:r>
            <a:r>
              <a:rPr lang="en-US" sz="2400" b="1" dirty="0"/>
              <a:t> AI Ecosystem</a:t>
            </a:r>
          </a:p>
        </p:txBody>
      </p:sp>
      <p:sp>
        <p:nvSpPr>
          <p:cNvPr id="82" name="Google Shape;82;p6"/>
          <p:cNvSpPr/>
          <p:nvPr/>
        </p:nvSpPr>
        <p:spPr>
          <a:xfrm>
            <a:off x="566928" y="2331720"/>
            <a:ext cx="5852160" cy="822960"/>
          </a:xfrm>
          <a:prstGeom prst="rect">
            <a:avLst/>
          </a:prstGeom>
          <a:noFill/>
          <a:ln>
            <a:noFill/>
          </a:ln>
        </p:spPr>
        <p:txBody>
          <a:bodyPr spcFirstLastPara="1" wrap="square" lIns="0" tIns="0" rIns="0" bIns="0" anchor="ctr" anchorCtr="0">
            <a:noAutofit/>
          </a:bodyPr>
          <a:lstStyle/>
          <a:p>
            <a:r>
              <a:rPr lang="en-US" sz="1400" dirty="0"/>
              <a:t>A complete, offline-compatible AI ecosystem integrating modern tech with ancient Vedic wisdom. It allows rural students to access advanced career counseling, health diagnostics, and digital literacy directly on low-cost devices without needing high-speed internet. </a:t>
            </a:r>
          </a:p>
        </p:txBody>
      </p:sp>
      <p:pic>
        <p:nvPicPr>
          <p:cNvPr id="83" name="Google Shape;83;p6" descr="preencoded.png"/>
          <p:cNvPicPr preferRelativeResize="0"/>
          <p:nvPr/>
        </p:nvPicPr>
        <p:blipFill rotWithShape="1">
          <a:blip r:embed="rId4">
            <a:alphaModFix/>
          </a:blip>
          <a:srcRect/>
          <a:stretch/>
        </p:blipFill>
        <p:spPr>
          <a:xfrm>
            <a:off x="566928" y="3246120"/>
            <a:ext cx="310896" cy="310896"/>
          </a:xfrm>
          <a:prstGeom prst="rect">
            <a:avLst/>
          </a:prstGeom>
          <a:noFill/>
          <a:ln>
            <a:noFill/>
          </a:ln>
        </p:spPr>
      </p:pic>
      <p:pic>
        <p:nvPicPr>
          <p:cNvPr id="84" name="Google Shape;84;p6" descr="preencoded.png"/>
          <p:cNvPicPr preferRelativeResize="0"/>
          <p:nvPr/>
        </p:nvPicPr>
        <p:blipFill rotWithShape="1">
          <a:blip r:embed="rId5">
            <a:alphaModFix/>
          </a:blip>
          <a:srcRect/>
          <a:stretch/>
        </p:blipFill>
        <p:spPr>
          <a:xfrm>
            <a:off x="644652" y="3323844"/>
            <a:ext cx="155448" cy="155448"/>
          </a:xfrm>
          <a:prstGeom prst="rect">
            <a:avLst/>
          </a:prstGeom>
          <a:noFill/>
          <a:ln>
            <a:noFill/>
          </a:ln>
        </p:spPr>
      </p:pic>
      <p:sp>
        <p:nvSpPr>
          <p:cNvPr id="85" name="Google Shape;85;p6"/>
          <p:cNvSpPr/>
          <p:nvPr/>
        </p:nvSpPr>
        <p:spPr>
          <a:xfrm>
            <a:off x="1024128" y="3209544"/>
            <a:ext cx="539496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300"/>
              <a:buFont typeface="Calibri"/>
              <a:buNone/>
            </a:pPr>
            <a:r>
              <a:rPr lang="en-US" sz="1200" b="1" dirty="0"/>
              <a:t>Benefit 1 (Zero-Cost Access):</a:t>
            </a:r>
            <a:r>
              <a:rPr lang="en-US" sz="1200" dirty="0"/>
              <a:t> Empowers rural youth with premium tools like time-tracked cognitive aptitude tests and VR lazy-eye therapy completely free of cost.</a:t>
            </a:r>
            <a:endParaRPr sz="1200" dirty="0">
              <a:solidFill>
                <a:schemeClr val="dk1"/>
              </a:solidFill>
              <a:latin typeface="Calibri"/>
              <a:ea typeface="Calibri"/>
              <a:cs typeface="Calibri"/>
              <a:sym typeface="Calibri"/>
            </a:endParaRPr>
          </a:p>
        </p:txBody>
      </p:sp>
      <p:pic>
        <p:nvPicPr>
          <p:cNvPr id="86" name="Google Shape;86;p6" descr="preencoded.png"/>
          <p:cNvPicPr preferRelativeResize="0"/>
          <p:nvPr/>
        </p:nvPicPr>
        <p:blipFill rotWithShape="1">
          <a:blip r:embed="rId4">
            <a:alphaModFix/>
          </a:blip>
          <a:srcRect/>
          <a:stretch/>
        </p:blipFill>
        <p:spPr>
          <a:xfrm>
            <a:off x="566928" y="3975608"/>
            <a:ext cx="310896" cy="310896"/>
          </a:xfrm>
          <a:prstGeom prst="rect">
            <a:avLst/>
          </a:prstGeom>
          <a:noFill/>
          <a:ln>
            <a:noFill/>
          </a:ln>
        </p:spPr>
      </p:pic>
      <p:pic>
        <p:nvPicPr>
          <p:cNvPr id="87" name="Google Shape;87;p6" descr="preencoded.png"/>
          <p:cNvPicPr preferRelativeResize="0"/>
          <p:nvPr/>
        </p:nvPicPr>
        <p:blipFill rotWithShape="1">
          <a:blip r:embed="rId5">
            <a:alphaModFix/>
          </a:blip>
          <a:srcRect/>
          <a:stretch/>
        </p:blipFill>
        <p:spPr>
          <a:xfrm>
            <a:off x="644652" y="4053332"/>
            <a:ext cx="155448" cy="155448"/>
          </a:xfrm>
          <a:prstGeom prst="rect">
            <a:avLst/>
          </a:prstGeom>
          <a:noFill/>
          <a:ln>
            <a:noFill/>
          </a:ln>
        </p:spPr>
      </p:pic>
      <p:sp>
        <p:nvSpPr>
          <p:cNvPr id="88" name="Google Shape;88;p6"/>
          <p:cNvSpPr/>
          <p:nvPr/>
        </p:nvSpPr>
        <p:spPr>
          <a:xfrm>
            <a:off x="1024128" y="3939032"/>
            <a:ext cx="539496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300"/>
              <a:buFont typeface="Calibri"/>
              <a:buNone/>
            </a:pPr>
            <a:r>
              <a:rPr lang="en-US" sz="1200" b="1" dirty="0"/>
              <a:t>Benefit 2 (Absolute Privacy &amp; Offline AI):</a:t>
            </a:r>
            <a:r>
              <a:rPr lang="en-US" sz="1200" dirty="0"/>
              <a:t> All AI processing happens locally on-device via </a:t>
            </a:r>
            <a:r>
              <a:rPr lang="en-US" sz="1200" dirty="0" err="1"/>
              <a:t>IndexedDB</a:t>
            </a:r>
            <a:r>
              <a:rPr lang="en-US" sz="1200" dirty="0"/>
              <a:t> and local caching, ensuring zero data exploitation or internet dependency for history </a:t>
            </a:r>
            <a:r>
              <a:rPr lang="en-US" sz="1200" dirty="0" err="1"/>
              <a:t>retrival</a:t>
            </a:r>
            <a:r>
              <a:rPr lang="en-US" sz="1200" dirty="0"/>
              <a:t>.. </a:t>
            </a:r>
            <a:endParaRPr sz="1200" dirty="0">
              <a:solidFill>
                <a:schemeClr val="dk1"/>
              </a:solidFill>
              <a:latin typeface="Calibri"/>
              <a:ea typeface="Calibri"/>
              <a:cs typeface="Calibri"/>
              <a:sym typeface="Calibri"/>
            </a:endParaRPr>
          </a:p>
        </p:txBody>
      </p:sp>
      <p:pic>
        <p:nvPicPr>
          <p:cNvPr id="89" name="Google Shape;89;p6" descr="preencoded.png"/>
          <p:cNvPicPr preferRelativeResize="0"/>
          <p:nvPr/>
        </p:nvPicPr>
        <p:blipFill rotWithShape="1">
          <a:blip r:embed="rId4">
            <a:alphaModFix/>
          </a:blip>
          <a:srcRect/>
          <a:stretch/>
        </p:blipFill>
        <p:spPr>
          <a:xfrm>
            <a:off x="566928" y="4745736"/>
            <a:ext cx="310896" cy="310896"/>
          </a:xfrm>
          <a:prstGeom prst="rect">
            <a:avLst/>
          </a:prstGeom>
          <a:noFill/>
          <a:ln>
            <a:noFill/>
          </a:ln>
        </p:spPr>
      </p:pic>
      <p:pic>
        <p:nvPicPr>
          <p:cNvPr id="90" name="Google Shape;90;p6" descr="preencoded.png"/>
          <p:cNvPicPr preferRelativeResize="0"/>
          <p:nvPr/>
        </p:nvPicPr>
        <p:blipFill rotWithShape="1">
          <a:blip r:embed="rId5">
            <a:alphaModFix/>
          </a:blip>
          <a:srcRect/>
          <a:stretch/>
        </p:blipFill>
        <p:spPr>
          <a:xfrm>
            <a:off x="644652" y="4823460"/>
            <a:ext cx="155448" cy="155448"/>
          </a:xfrm>
          <a:prstGeom prst="rect">
            <a:avLst/>
          </a:prstGeom>
          <a:noFill/>
          <a:ln>
            <a:noFill/>
          </a:ln>
        </p:spPr>
      </p:pic>
      <p:sp>
        <p:nvSpPr>
          <p:cNvPr id="91" name="Google Shape;91;p6"/>
          <p:cNvSpPr/>
          <p:nvPr/>
        </p:nvSpPr>
        <p:spPr>
          <a:xfrm>
            <a:off x="1024128" y="4709160"/>
            <a:ext cx="539496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300"/>
              <a:buFont typeface="Calibri"/>
              <a:buNone/>
            </a:pPr>
            <a:r>
              <a:rPr lang="en-US" sz="1200" b="1" dirty="0"/>
              <a:t>Benefit 3 (Hardware Innovation):</a:t>
            </a:r>
            <a:r>
              <a:rPr lang="en-US" sz="1200" dirty="0"/>
              <a:t> Drastically reduces infrastructure costs by utilizing refurbished e-waste (extracting PCBAs, RAM, and CPUs from discarded smartphones) to power local servers. Our AI tools run on 10 year old hardware and basic stable 2g connection.</a:t>
            </a:r>
            <a:endParaRPr sz="1200" dirty="0">
              <a:solidFill>
                <a:schemeClr val="dk1"/>
              </a:solidFill>
              <a:latin typeface="Calibri"/>
              <a:ea typeface="Calibri"/>
              <a:cs typeface="Calibri"/>
              <a:sym typeface="Calibri"/>
            </a:endParaRPr>
          </a:p>
        </p:txBody>
      </p:sp>
      <p:pic>
        <p:nvPicPr>
          <p:cNvPr id="92" name="Google Shape;92;p6" descr="preencoded.png"/>
          <p:cNvPicPr preferRelativeResize="0"/>
          <p:nvPr/>
        </p:nvPicPr>
        <p:blipFill rotWithShape="1">
          <a:blip r:embed="rId6">
            <a:alphaModFix/>
          </a:blip>
          <a:srcRect/>
          <a:stretch/>
        </p:blipFill>
        <p:spPr>
          <a:xfrm>
            <a:off x="566928" y="5468112"/>
            <a:ext cx="4754880" cy="438912"/>
          </a:xfrm>
          <a:prstGeom prst="rect">
            <a:avLst/>
          </a:prstGeom>
          <a:noFill/>
          <a:ln>
            <a:noFill/>
          </a:ln>
        </p:spPr>
      </p:pic>
      <p:sp>
        <p:nvSpPr>
          <p:cNvPr id="93" name="Google Shape;93;p6"/>
          <p:cNvSpPr/>
          <p:nvPr/>
        </p:nvSpPr>
        <p:spPr>
          <a:xfrm>
            <a:off x="566928" y="5468112"/>
            <a:ext cx="4754880"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Montserrat"/>
              <a:buNone/>
            </a:pPr>
            <a:r>
              <a:rPr lang="en-US" sz="1100" b="1" dirty="0">
                <a:solidFill>
                  <a:srgbClr val="FFFFFF"/>
                </a:solidFill>
                <a:latin typeface="Montserrat"/>
                <a:ea typeface="Montserrat"/>
                <a:cs typeface="Montserrat"/>
                <a:sym typeface="Montserrat"/>
              </a:rPr>
              <a:t>CURRENT STAGE:  </a:t>
            </a:r>
          </a:p>
          <a:p>
            <a:pPr marL="0" marR="0" lvl="0" indent="0" algn="ctr" rtl="0">
              <a:spcBef>
                <a:spcPts val="0"/>
              </a:spcBef>
              <a:spcAft>
                <a:spcPts val="0"/>
              </a:spcAft>
              <a:buClr>
                <a:srgbClr val="FFFFFF"/>
              </a:buClr>
              <a:buSzPts val="1100"/>
              <a:buFont typeface="Montserrat"/>
              <a:buNone/>
            </a:pPr>
            <a:r>
              <a:rPr lang="en-US" sz="1100" dirty="0">
                <a:solidFill>
                  <a:srgbClr val="FFFFFF"/>
                </a:solidFill>
                <a:latin typeface="Montserrat"/>
                <a:ea typeface="Montserrat"/>
                <a:cs typeface="Montserrat"/>
                <a:sym typeface="Montserrat"/>
              </a:rPr>
              <a:t>Revenue Stage</a:t>
            </a:r>
            <a:endParaRPr sz="1100" dirty="0">
              <a:solidFill>
                <a:schemeClr val="dk1"/>
              </a:solidFill>
              <a:latin typeface="Calibri"/>
              <a:ea typeface="Calibri"/>
              <a:cs typeface="Calibri"/>
              <a:sym typeface="Calibri"/>
            </a:endParaRPr>
          </a:p>
        </p:txBody>
      </p:sp>
      <p:sp>
        <p:nvSpPr>
          <p:cNvPr id="94" name="Google Shape;94;p6"/>
          <p:cNvSpPr/>
          <p:nvPr/>
        </p:nvSpPr>
        <p:spPr>
          <a:xfrm>
            <a:off x="6739128" y="1920240"/>
            <a:ext cx="4885639" cy="3986784"/>
          </a:xfrm>
          <a:prstGeom prst="roundRect">
            <a:avLst>
              <a:gd name="adj" fmla="val 3429"/>
            </a:avLst>
          </a:prstGeom>
          <a:solidFill>
            <a:srgbClr val="F5F4FB"/>
          </a:solidFill>
          <a:ln w="15875" cap="flat" cmpd="sng">
            <a:solidFill>
              <a:srgbClr val="E5E4F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 name="Google Shape;95;p6" descr="preencoded.png"/>
          <p:cNvPicPr preferRelativeResize="0"/>
          <p:nvPr/>
        </p:nvPicPr>
        <p:blipFill rotWithShape="1">
          <a:blip r:embed="rId7">
            <a:alphaModFix/>
          </a:blip>
          <a:srcRect/>
          <a:stretch/>
        </p:blipFill>
        <p:spPr>
          <a:xfrm>
            <a:off x="8953348" y="3017520"/>
            <a:ext cx="457200" cy="457200"/>
          </a:xfrm>
          <a:prstGeom prst="rect">
            <a:avLst/>
          </a:prstGeom>
          <a:noFill/>
          <a:ln>
            <a:noFill/>
          </a:ln>
        </p:spPr>
      </p:pic>
      <p:pic>
        <p:nvPicPr>
          <p:cNvPr id="96" name="Google Shape;96;p6" descr="preencoded.png"/>
          <p:cNvPicPr preferRelativeResize="0"/>
          <p:nvPr/>
        </p:nvPicPr>
        <p:blipFill rotWithShape="1">
          <a:blip r:embed="rId5">
            <a:alphaModFix/>
          </a:blip>
          <a:srcRect/>
          <a:stretch/>
        </p:blipFill>
        <p:spPr>
          <a:xfrm>
            <a:off x="9063076" y="3136392"/>
            <a:ext cx="219456" cy="219456"/>
          </a:xfrm>
          <a:prstGeom prst="rect">
            <a:avLst/>
          </a:prstGeom>
          <a:noFill/>
          <a:ln>
            <a:noFill/>
          </a:ln>
        </p:spPr>
      </p:pic>
      <p:sp>
        <p:nvSpPr>
          <p:cNvPr id="97" name="Google Shape;97;p6"/>
          <p:cNvSpPr/>
          <p:nvPr/>
        </p:nvSpPr>
        <p:spPr>
          <a:xfrm>
            <a:off x="7013448" y="3566160"/>
            <a:ext cx="4336999" cy="7315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9A9CB2"/>
              </a:buClr>
              <a:buSzPts val="1100"/>
              <a:buFont typeface="Calibri"/>
              <a:buNone/>
            </a:pPr>
            <a:r>
              <a:rPr lang="en-US" sz="1100" dirty="0">
                <a:solidFill>
                  <a:srgbClr val="9A9CB2"/>
                </a:solidFill>
                <a:latin typeface="Calibri"/>
                <a:ea typeface="Calibri"/>
                <a:cs typeface="Calibri"/>
                <a:sym typeface="Calibri"/>
              </a:rPr>
              <a:t>Paste a screenshot, mockup</a:t>
            </a:r>
            <a:endParaRPr sz="1100" dirty="0">
              <a:solidFill>
                <a:schemeClr val="dk1"/>
              </a:solidFill>
              <a:latin typeface="Calibri"/>
              <a:ea typeface="Calibri"/>
              <a:cs typeface="Calibri"/>
              <a:sym typeface="Calibri"/>
            </a:endParaRPr>
          </a:p>
          <a:p>
            <a:pPr marL="0" marR="0" lvl="0" indent="0" algn="ctr" rtl="0">
              <a:spcBef>
                <a:spcPts val="0"/>
              </a:spcBef>
              <a:spcAft>
                <a:spcPts val="0"/>
              </a:spcAft>
              <a:buClr>
                <a:srgbClr val="9A9CB2"/>
              </a:buClr>
              <a:buSzPts val="1100"/>
              <a:buFont typeface="Calibri"/>
              <a:buNone/>
            </a:pPr>
            <a:r>
              <a:rPr lang="en-US" sz="1100" dirty="0">
                <a:solidFill>
                  <a:srgbClr val="9A9CB2"/>
                </a:solidFill>
                <a:latin typeface="Calibri"/>
                <a:ea typeface="Calibri"/>
                <a:cs typeface="Calibri"/>
                <a:sym typeface="Calibri"/>
              </a:rPr>
              <a:t>or product photo here</a:t>
            </a:r>
            <a:endParaRPr sz="1100" dirty="0">
              <a:solidFill>
                <a:schemeClr val="dk1"/>
              </a:solidFill>
              <a:latin typeface="Calibri"/>
              <a:ea typeface="Calibri"/>
              <a:cs typeface="Calibri"/>
              <a:sym typeface="Calibri"/>
            </a:endParaRPr>
          </a:p>
        </p:txBody>
      </p:sp>
      <p:sp>
        <p:nvSpPr>
          <p:cNvPr id="98" name="Google Shape;98;p6"/>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99" name="Google Shape;99;p6"/>
          <p:cNvPicPr preferRelativeResize="0"/>
          <p:nvPr/>
        </p:nvPicPr>
        <p:blipFill rotWithShape="1">
          <a:blip r:embed="rId8">
            <a:alphaModFix/>
          </a:blip>
          <a:srcRect r="55655"/>
          <a:stretch/>
        </p:blipFill>
        <p:spPr>
          <a:xfrm>
            <a:off x="566928" y="302768"/>
            <a:ext cx="323705" cy="314960"/>
          </a:xfrm>
          <a:prstGeom prst="rect">
            <a:avLst/>
          </a:prstGeom>
          <a:noFill/>
          <a:ln>
            <a:noFill/>
          </a:ln>
        </p:spPr>
      </p:pic>
      <p:pic>
        <p:nvPicPr>
          <p:cNvPr id="3" name="Picture 2">
            <a:extLst>
              <a:ext uri="{FF2B5EF4-FFF2-40B4-BE49-F238E27FC236}">
                <a16:creationId xmlns:a16="http://schemas.microsoft.com/office/drawing/2014/main" id="{070F5811-2709-458A-8F4A-5A3F878E3406}"/>
              </a:ext>
            </a:extLst>
          </p:cNvPr>
          <p:cNvPicPr>
            <a:picLocks noChangeAspect="1"/>
          </p:cNvPicPr>
          <p:nvPr/>
        </p:nvPicPr>
        <p:blipFill>
          <a:blip r:embed="rId9"/>
          <a:stretch>
            <a:fillRect/>
          </a:stretch>
        </p:blipFill>
        <p:spPr>
          <a:xfrm>
            <a:off x="6825238" y="168880"/>
            <a:ext cx="5014314" cy="63690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4"/>
        <p:cNvGrpSpPr/>
        <p:nvPr/>
      </p:nvGrpSpPr>
      <p:grpSpPr>
        <a:xfrm>
          <a:off x="0" y="0"/>
          <a:ext cx="0" cy="0"/>
          <a:chOff x="0" y="0"/>
          <a:chExt cx="0" cy="0"/>
        </a:xfrm>
      </p:grpSpPr>
      <p:pic>
        <p:nvPicPr>
          <p:cNvPr id="105" name="Google Shape;105;p7"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106" name="Google Shape;106;p7"/>
          <p:cNvSpPr/>
          <p:nvPr/>
        </p:nvSpPr>
        <p:spPr>
          <a:xfrm>
            <a:off x="777240" y="1001268"/>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Product / Service – How It Works</a:t>
            </a:r>
            <a:endParaRPr sz="2700">
              <a:solidFill>
                <a:schemeClr val="dk1"/>
              </a:solidFill>
              <a:latin typeface="Calibri"/>
              <a:ea typeface="Calibri"/>
              <a:cs typeface="Calibri"/>
              <a:sym typeface="Calibri"/>
            </a:endParaRPr>
          </a:p>
        </p:txBody>
      </p:sp>
      <p:sp>
        <p:nvSpPr>
          <p:cNvPr id="107" name="Google Shape;107;p7"/>
          <p:cNvSpPr/>
          <p:nvPr/>
        </p:nvSpPr>
        <p:spPr>
          <a:xfrm>
            <a:off x="566928" y="1874520"/>
            <a:ext cx="55778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50"/>
              <a:buFont typeface="Montserrat"/>
              <a:buNone/>
            </a:pPr>
            <a:r>
              <a:rPr lang="en-US" sz="1050" b="1">
                <a:solidFill>
                  <a:srgbClr val="C8186B"/>
                </a:solidFill>
                <a:latin typeface="Montserrat"/>
                <a:ea typeface="Montserrat"/>
                <a:cs typeface="Montserrat"/>
                <a:sym typeface="Montserrat"/>
              </a:rPr>
              <a:t>HOW IT WORKS</a:t>
            </a:r>
            <a:endParaRPr sz="1050">
              <a:solidFill>
                <a:schemeClr val="dk1"/>
              </a:solidFill>
              <a:latin typeface="Calibri"/>
              <a:ea typeface="Calibri"/>
              <a:cs typeface="Calibri"/>
              <a:sym typeface="Calibri"/>
            </a:endParaRPr>
          </a:p>
        </p:txBody>
      </p:sp>
      <p:pic>
        <p:nvPicPr>
          <p:cNvPr id="108" name="Google Shape;108;p7" descr="preencoded.png"/>
          <p:cNvPicPr preferRelativeResize="0"/>
          <p:nvPr/>
        </p:nvPicPr>
        <p:blipFill rotWithShape="1">
          <a:blip r:embed="rId4">
            <a:alphaModFix/>
          </a:blip>
          <a:srcRect/>
          <a:stretch/>
        </p:blipFill>
        <p:spPr>
          <a:xfrm>
            <a:off x="566928" y="2240280"/>
            <a:ext cx="420624" cy="420624"/>
          </a:xfrm>
          <a:prstGeom prst="rect">
            <a:avLst/>
          </a:prstGeom>
          <a:noFill/>
          <a:ln>
            <a:noFill/>
          </a:ln>
        </p:spPr>
      </p:pic>
      <p:sp>
        <p:nvSpPr>
          <p:cNvPr id="109" name="Google Shape;109;p7"/>
          <p:cNvSpPr/>
          <p:nvPr/>
        </p:nvSpPr>
        <p:spPr>
          <a:xfrm>
            <a:off x="566928" y="2240280"/>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Montserrat"/>
              <a:buNone/>
            </a:pPr>
            <a:r>
              <a:rPr lang="en-US" sz="1600" b="1">
                <a:solidFill>
                  <a:srgbClr val="FFFFFF"/>
                </a:solidFill>
                <a:latin typeface="Montserrat"/>
                <a:ea typeface="Montserrat"/>
                <a:cs typeface="Montserrat"/>
                <a:sym typeface="Montserrat"/>
              </a:rPr>
              <a:t>1</a:t>
            </a:r>
            <a:endParaRPr sz="1600">
              <a:solidFill>
                <a:schemeClr val="dk1"/>
              </a:solidFill>
              <a:latin typeface="Calibri"/>
              <a:ea typeface="Calibri"/>
              <a:cs typeface="Calibri"/>
              <a:sym typeface="Calibri"/>
            </a:endParaRPr>
          </a:p>
        </p:txBody>
      </p:sp>
      <p:sp>
        <p:nvSpPr>
          <p:cNvPr id="110" name="Google Shape;110;p7"/>
          <p:cNvSpPr/>
          <p:nvPr/>
        </p:nvSpPr>
        <p:spPr>
          <a:xfrm>
            <a:off x="1170432" y="2240280"/>
            <a:ext cx="4937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r>
              <a:rPr lang="en-US" sz="1250" b="1" dirty="0" err="1">
                <a:solidFill>
                  <a:srgbClr val="1B1838"/>
                </a:solidFill>
                <a:latin typeface="Montserrat"/>
                <a:ea typeface="Montserrat"/>
                <a:cs typeface="Montserrat"/>
                <a:sym typeface="Montserrat"/>
              </a:rPr>
              <a:t>Eprashala</a:t>
            </a:r>
            <a:r>
              <a:rPr lang="en-US" sz="1250" b="1" dirty="0">
                <a:solidFill>
                  <a:srgbClr val="1B1838"/>
                </a:solidFill>
                <a:latin typeface="Montserrat"/>
                <a:ea typeface="Montserrat"/>
                <a:cs typeface="Montserrat"/>
                <a:sym typeface="Montserrat"/>
              </a:rPr>
              <a:t> Ai powered digital teaching device:- runs on solar energy, requires 1 power cord, turns any surface to touch screen. </a:t>
            </a:r>
            <a:r>
              <a:rPr lang="en-US" sz="1250" b="1" dirty="0" err="1">
                <a:solidFill>
                  <a:srgbClr val="1B1838"/>
                </a:solidFill>
                <a:latin typeface="Montserrat"/>
                <a:ea typeface="Montserrat"/>
                <a:cs typeface="Montserrat"/>
                <a:sym typeface="Montserrat"/>
              </a:rPr>
              <a:t>Neglible</a:t>
            </a:r>
            <a:r>
              <a:rPr lang="en-US" sz="1250" b="1" dirty="0">
                <a:solidFill>
                  <a:srgbClr val="1B1838"/>
                </a:solidFill>
                <a:latin typeface="Montserrat"/>
                <a:ea typeface="Montserrat"/>
                <a:cs typeface="Montserrat"/>
                <a:sym typeface="Montserrat"/>
              </a:rPr>
              <a:t> </a:t>
            </a:r>
            <a:r>
              <a:rPr lang="en-US" sz="1250" b="1" dirty="0" err="1">
                <a:solidFill>
                  <a:srgbClr val="1B1838"/>
                </a:solidFill>
                <a:latin typeface="Montserrat"/>
                <a:ea typeface="Montserrat"/>
                <a:cs typeface="Montserrat"/>
                <a:sym typeface="Montserrat"/>
              </a:rPr>
              <a:t>maintaince</a:t>
            </a:r>
            <a:r>
              <a:rPr lang="en-US" sz="1250" b="1" dirty="0">
                <a:solidFill>
                  <a:srgbClr val="1B1838"/>
                </a:solidFill>
                <a:latin typeface="Montserrat"/>
                <a:ea typeface="Montserrat"/>
                <a:cs typeface="Montserrat"/>
                <a:sym typeface="Montserrat"/>
              </a:rPr>
              <a:t> cost &amp; running cost. Made for harsh Indian climatic conditions. </a:t>
            </a:r>
            <a:br>
              <a:rPr lang="en-US" sz="1250" b="1" dirty="0">
                <a:solidFill>
                  <a:srgbClr val="1B1838"/>
                </a:solidFill>
                <a:latin typeface="Montserrat"/>
                <a:ea typeface="Montserrat"/>
                <a:cs typeface="Montserrat"/>
                <a:sym typeface="Montserrat"/>
              </a:rPr>
            </a:b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endParaRPr lang="en-US" sz="1250" b="1" dirty="0">
              <a:solidFill>
                <a:srgbClr val="1B1838"/>
              </a:solidFill>
              <a:latin typeface="Montserrat"/>
              <a:ea typeface="Montserrat"/>
              <a:cs typeface="Montserrat"/>
              <a:sym typeface="Montserrat"/>
            </a:endParaRPr>
          </a:p>
          <a:p>
            <a:pPr marL="0" marR="0" lvl="0" indent="0" algn="l" rtl="0">
              <a:spcBef>
                <a:spcPts val="0"/>
              </a:spcBef>
              <a:spcAft>
                <a:spcPts val="0"/>
              </a:spcAft>
              <a:buClr>
                <a:srgbClr val="1B1838"/>
              </a:buClr>
              <a:buSzPts val="1250"/>
              <a:buFont typeface="Montserrat"/>
              <a:buNone/>
            </a:pPr>
            <a:br>
              <a:rPr lang="en-US" sz="1250" b="1" dirty="0">
                <a:solidFill>
                  <a:srgbClr val="1B1838"/>
                </a:solidFill>
                <a:latin typeface="Montserrat"/>
                <a:ea typeface="Montserrat"/>
                <a:cs typeface="Montserrat"/>
                <a:sym typeface="Montserrat"/>
              </a:rPr>
            </a:br>
            <a:r>
              <a:rPr lang="en-US" sz="1250" b="1" dirty="0" err="1">
                <a:solidFill>
                  <a:srgbClr val="1B1838"/>
                </a:solidFill>
                <a:latin typeface="Montserrat"/>
                <a:ea typeface="Montserrat"/>
                <a:cs typeface="Montserrat"/>
                <a:sym typeface="Montserrat"/>
              </a:rPr>
              <a:t>Eprashala</a:t>
            </a:r>
            <a:r>
              <a:rPr lang="en-US" sz="1250" b="1" dirty="0">
                <a:solidFill>
                  <a:srgbClr val="1B1838"/>
                </a:solidFill>
                <a:latin typeface="Montserrat"/>
                <a:ea typeface="Montserrat"/>
                <a:cs typeface="Montserrat"/>
                <a:sym typeface="Montserrat"/>
              </a:rPr>
              <a:t> Ai tools for all. A perfect blend of ancient wisdom and modern technology. Runs of 10 year old phones on 2g connection. Covers overall education including school, ancient and beyond.</a:t>
            </a:r>
            <a:endParaRPr sz="1250" dirty="0">
              <a:solidFill>
                <a:schemeClr val="dk1"/>
              </a:solidFill>
              <a:latin typeface="Calibri"/>
              <a:ea typeface="Calibri"/>
              <a:cs typeface="Calibri"/>
              <a:sym typeface="Calibri"/>
            </a:endParaRPr>
          </a:p>
        </p:txBody>
      </p:sp>
      <p:cxnSp>
        <p:nvCxnSpPr>
          <p:cNvPr id="111" name="Google Shape;111;p7"/>
          <p:cNvCxnSpPr/>
          <p:nvPr/>
        </p:nvCxnSpPr>
        <p:spPr>
          <a:xfrm>
            <a:off x="777240" y="2660904"/>
            <a:ext cx="0" cy="1362456"/>
          </a:xfrm>
          <a:prstGeom prst="straightConnector1">
            <a:avLst/>
          </a:prstGeom>
          <a:noFill/>
          <a:ln w="19050" cap="flat" cmpd="sng">
            <a:solidFill>
              <a:srgbClr val="E5E4F1"/>
            </a:solidFill>
            <a:prstDash val="solid"/>
            <a:round/>
            <a:headEnd type="none" w="sm" len="sm"/>
            <a:tailEnd type="none" w="sm" len="sm"/>
          </a:ln>
        </p:spPr>
      </p:cxnSp>
      <p:pic>
        <p:nvPicPr>
          <p:cNvPr id="112" name="Google Shape;112;p7" descr="preencoded.png"/>
          <p:cNvPicPr preferRelativeResize="0"/>
          <p:nvPr/>
        </p:nvPicPr>
        <p:blipFill rotWithShape="1">
          <a:blip r:embed="rId4">
            <a:alphaModFix/>
          </a:blip>
          <a:srcRect/>
          <a:stretch/>
        </p:blipFill>
        <p:spPr>
          <a:xfrm>
            <a:off x="566928" y="4023360"/>
            <a:ext cx="420624" cy="420624"/>
          </a:xfrm>
          <a:prstGeom prst="rect">
            <a:avLst/>
          </a:prstGeom>
          <a:noFill/>
          <a:ln>
            <a:noFill/>
          </a:ln>
        </p:spPr>
      </p:pic>
      <p:sp>
        <p:nvSpPr>
          <p:cNvPr id="113" name="Google Shape;113;p7"/>
          <p:cNvSpPr/>
          <p:nvPr/>
        </p:nvSpPr>
        <p:spPr>
          <a:xfrm>
            <a:off x="566928" y="4023360"/>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Montserrat"/>
              <a:buNone/>
            </a:pPr>
            <a:r>
              <a:rPr lang="en-US" sz="1600" b="1">
                <a:solidFill>
                  <a:srgbClr val="FFFFFF"/>
                </a:solidFill>
                <a:latin typeface="Montserrat"/>
                <a:ea typeface="Montserrat"/>
                <a:cs typeface="Montserrat"/>
                <a:sym typeface="Montserrat"/>
              </a:rPr>
              <a:t>2</a:t>
            </a:r>
            <a:endParaRPr sz="1600">
              <a:solidFill>
                <a:schemeClr val="dk1"/>
              </a:solidFill>
              <a:latin typeface="Calibri"/>
              <a:ea typeface="Calibri"/>
              <a:cs typeface="Calibri"/>
              <a:sym typeface="Calibri"/>
            </a:endParaRPr>
          </a:p>
        </p:txBody>
      </p:sp>
      <p:sp>
        <p:nvSpPr>
          <p:cNvPr id="114" name="Google Shape;114;p7"/>
          <p:cNvSpPr/>
          <p:nvPr/>
        </p:nvSpPr>
        <p:spPr>
          <a:xfrm>
            <a:off x="1170432" y="4023360"/>
            <a:ext cx="4937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250"/>
              <a:buFont typeface="Montserrat"/>
              <a:buNone/>
            </a:pPr>
            <a:r>
              <a:rPr lang="en-US" sz="1250" dirty="0">
                <a:solidFill>
                  <a:srgbClr val="55586F"/>
                </a:solidFill>
                <a:latin typeface="Calibri"/>
                <a:ea typeface="Calibri"/>
                <a:cs typeface="Calibri"/>
                <a:sym typeface="Calibri"/>
              </a:rPr>
              <a:t>.</a:t>
            </a:r>
            <a:endParaRPr sz="1250" dirty="0">
              <a:solidFill>
                <a:schemeClr val="dk1"/>
              </a:solidFill>
              <a:latin typeface="Calibri"/>
              <a:ea typeface="Calibri"/>
              <a:cs typeface="Calibri"/>
              <a:sym typeface="Calibri"/>
            </a:endParaRPr>
          </a:p>
        </p:txBody>
      </p:sp>
      <p:cxnSp>
        <p:nvCxnSpPr>
          <p:cNvPr id="115" name="Google Shape;115;p7"/>
          <p:cNvCxnSpPr/>
          <p:nvPr/>
        </p:nvCxnSpPr>
        <p:spPr>
          <a:xfrm>
            <a:off x="777240" y="4443984"/>
            <a:ext cx="0" cy="1069848"/>
          </a:xfrm>
          <a:prstGeom prst="straightConnector1">
            <a:avLst/>
          </a:prstGeom>
          <a:noFill/>
          <a:ln w="19050" cap="flat" cmpd="sng">
            <a:solidFill>
              <a:srgbClr val="E5E4F1"/>
            </a:solidFill>
            <a:prstDash val="solid"/>
            <a:round/>
            <a:headEnd type="none" w="sm" len="sm"/>
            <a:tailEnd type="none" w="sm" len="sm"/>
          </a:ln>
        </p:spPr>
      </p:cxnSp>
      <p:pic>
        <p:nvPicPr>
          <p:cNvPr id="116" name="Google Shape;116;p7" descr="preencoded.png"/>
          <p:cNvPicPr preferRelativeResize="0"/>
          <p:nvPr/>
        </p:nvPicPr>
        <p:blipFill rotWithShape="1">
          <a:blip r:embed="rId4">
            <a:alphaModFix/>
          </a:blip>
          <a:srcRect/>
          <a:stretch/>
        </p:blipFill>
        <p:spPr>
          <a:xfrm>
            <a:off x="566928" y="5513832"/>
            <a:ext cx="420624" cy="420624"/>
          </a:xfrm>
          <a:prstGeom prst="rect">
            <a:avLst/>
          </a:prstGeom>
          <a:noFill/>
          <a:ln>
            <a:noFill/>
          </a:ln>
        </p:spPr>
      </p:pic>
      <p:sp>
        <p:nvSpPr>
          <p:cNvPr id="117" name="Google Shape;117;p7"/>
          <p:cNvSpPr/>
          <p:nvPr/>
        </p:nvSpPr>
        <p:spPr>
          <a:xfrm>
            <a:off x="566928" y="5513832"/>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Montserrat"/>
              <a:buNone/>
            </a:pPr>
            <a:r>
              <a:rPr lang="en-US" sz="1600" b="1">
                <a:solidFill>
                  <a:srgbClr val="FFFFFF"/>
                </a:solidFill>
                <a:latin typeface="Montserrat"/>
                <a:ea typeface="Montserrat"/>
                <a:cs typeface="Montserrat"/>
                <a:sym typeface="Montserrat"/>
              </a:rPr>
              <a:t>3</a:t>
            </a:r>
            <a:endParaRPr sz="1600">
              <a:solidFill>
                <a:schemeClr val="dk1"/>
              </a:solidFill>
              <a:latin typeface="Calibri"/>
              <a:ea typeface="Calibri"/>
              <a:cs typeface="Calibri"/>
              <a:sym typeface="Calibri"/>
            </a:endParaRPr>
          </a:p>
        </p:txBody>
      </p:sp>
      <p:sp>
        <p:nvSpPr>
          <p:cNvPr id="118" name="Google Shape;118;p7"/>
          <p:cNvSpPr/>
          <p:nvPr/>
        </p:nvSpPr>
        <p:spPr>
          <a:xfrm>
            <a:off x="1170432" y="5513832"/>
            <a:ext cx="4937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250"/>
              <a:buFont typeface="Montserrat"/>
              <a:buNone/>
            </a:pPr>
            <a:r>
              <a:rPr lang="en-US" sz="1250" b="1" dirty="0">
                <a:solidFill>
                  <a:schemeClr val="dk1"/>
                </a:solidFill>
                <a:latin typeface="Montserrat" panose="020B0604020202020204" pitchFamily="2" charset="0"/>
                <a:ea typeface="Calibri"/>
                <a:cs typeface="Calibri"/>
                <a:sym typeface="Calibri"/>
              </a:rPr>
              <a:t>40 crore children if educated in the best way ( both modern and </a:t>
            </a:r>
            <a:r>
              <a:rPr lang="en-US" sz="1250" b="1" dirty="0" err="1">
                <a:solidFill>
                  <a:schemeClr val="dk1"/>
                </a:solidFill>
                <a:latin typeface="Montserrat" panose="020B0604020202020204" pitchFamily="2" charset="0"/>
                <a:ea typeface="Calibri"/>
                <a:cs typeface="Calibri"/>
                <a:sym typeface="Calibri"/>
              </a:rPr>
              <a:t>vedic</a:t>
            </a:r>
            <a:r>
              <a:rPr lang="en-US" sz="1250" b="1" dirty="0">
                <a:solidFill>
                  <a:schemeClr val="dk1"/>
                </a:solidFill>
                <a:latin typeface="Montserrat" panose="020B0604020202020204" pitchFamily="2" charset="0"/>
                <a:ea typeface="Calibri"/>
                <a:cs typeface="Calibri"/>
                <a:sym typeface="Calibri"/>
              </a:rPr>
              <a:t> ) will take India to the next level. Bridging the rural and urban gap. Overall progress awaits us.</a:t>
            </a:r>
            <a:endParaRPr sz="1250" b="1" dirty="0">
              <a:solidFill>
                <a:schemeClr val="dk1"/>
              </a:solidFill>
              <a:latin typeface="Montserrat" panose="020B0604020202020204" pitchFamily="2" charset="0"/>
              <a:ea typeface="Calibri"/>
              <a:cs typeface="Calibri"/>
              <a:sym typeface="Calibri"/>
            </a:endParaRPr>
          </a:p>
        </p:txBody>
      </p:sp>
      <p:sp>
        <p:nvSpPr>
          <p:cNvPr id="119" name="Google Shape;119;p7"/>
          <p:cNvSpPr/>
          <p:nvPr/>
        </p:nvSpPr>
        <p:spPr>
          <a:xfrm>
            <a:off x="6464808" y="1874520"/>
            <a:ext cx="5159959" cy="3611880"/>
          </a:xfrm>
          <a:prstGeom prst="roundRect">
            <a:avLst>
              <a:gd name="adj" fmla="val 3038"/>
            </a:avLst>
          </a:prstGeom>
          <a:solidFill>
            <a:srgbClr val="F5F4FB"/>
          </a:solidFill>
          <a:ln w="15875" cap="flat" cmpd="sng">
            <a:solidFill>
              <a:srgbClr val="E5E4F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 name="Google Shape;120;p7" descr="preencoded.png"/>
          <p:cNvPicPr preferRelativeResize="0"/>
          <p:nvPr/>
        </p:nvPicPr>
        <p:blipFill rotWithShape="1">
          <a:blip r:embed="rId5">
            <a:alphaModFix/>
          </a:blip>
          <a:srcRect/>
          <a:stretch/>
        </p:blipFill>
        <p:spPr>
          <a:xfrm>
            <a:off x="8816188" y="3177540"/>
            <a:ext cx="457200" cy="457200"/>
          </a:xfrm>
          <a:prstGeom prst="rect">
            <a:avLst/>
          </a:prstGeom>
          <a:noFill/>
          <a:ln>
            <a:noFill/>
          </a:ln>
        </p:spPr>
      </p:pic>
      <p:pic>
        <p:nvPicPr>
          <p:cNvPr id="121" name="Google Shape;121;p7" descr="preencoded.png"/>
          <p:cNvPicPr preferRelativeResize="0"/>
          <p:nvPr/>
        </p:nvPicPr>
        <p:blipFill rotWithShape="1">
          <a:blip r:embed="rId6">
            <a:alphaModFix/>
          </a:blip>
          <a:srcRect/>
          <a:stretch/>
        </p:blipFill>
        <p:spPr>
          <a:xfrm>
            <a:off x="8925916" y="3296412"/>
            <a:ext cx="219456" cy="219456"/>
          </a:xfrm>
          <a:prstGeom prst="rect">
            <a:avLst/>
          </a:prstGeom>
          <a:noFill/>
          <a:ln>
            <a:noFill/>
          </a:ln>
        </p:spPr>
      </p:pic>
      <p:sp>
        <p:nvSpPr>
          <p:cNvPr id="122" name="Google Shape;122;p7"/>
          <p:cNvSpPr/>
          <p:nvPr/>
        </p:nvSpPr>
        <p:spPr>
          <a:xfrm>
            <a:off x="6739128" y="3726180"/>
            <a:ext cx="4611319" cy="7315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9A9CB2"/>
              </a:buClr>
              <a:buSzPts val="1100"/>
              <a:buFont typeface="Calibri"/>
              <a:buNone/>
            </a:pPr>
            <a:r>
              <a:rPr lang="en-US" sz="1100" dirty="0">
                <a:solidFill>
                  <a:srgbClr val="9A9CB2"/>
                </a:solidFill>
                <a:latin typeface="Calibri"/>
                <a:ea typeface="Calibri"/>
                <a:cs typeface="Calibri"/>
                <a:sym typeface="Calibri"/>
              </a:rPr>
              <a:t>Add a demo (image/video)</a:t>
            </a:r>
            <a:r>
              <a:rPr lang="en-US" sz="1100" dirty="0">
                <a:solidFill>
                  <a:schemeClr val="dk1"/>
                </a:solidFill>
                <a:latin typeface="Calibri"/>
                <a:ea typeface="Calibri"/>
                <a:cs typeface="Calibri"/>
                <a:sym typeface="Calibri"/>
              </a:rPr>
              <a:t> </a:t>
            </a:r>
            <a:r>
              <a:rPr lang="en-US" sz="1100" dirty="0">
                <a:solidFill>
                  <a:srgbClr val="9A9CB2"/>
                </a:solidFill>
                <a:latin typeface="Calibri"/>
                <a:ea typeface="Calibri"/>
                <a:cs typeface="Calibri"/>
                <a:sym typeface="Calibri"/>
              </a:rPr>
              <a:t>or a short flow diagram</a:t>
            </a:r>
            <a:endParaRPr dirty="0"/>
          </a:p>
          <a:p>
            <a:pPr marL="0" marR="0" lvl="0" indent="0" algn="ctr" rtl="0">
              <a:spcBef>
                <a:spcPts val="0"/>
              </a:spcBef>
              <a:spcAft>
                <a:spcPts val="0"/>
              </a:spcAft>
              <a:buClr>
                <a:srgbClr val="9A9CB2"/>
              </a:buClr>
              <a:buSzPts val="1100"/>
              <a:buFont typeface="Calibri"/>
              <a:buNone/>
            </a:pPr>
            <a:r>
              <a:rPr lang="en-US" sz="1100" dirty="0">
                <a:solidFill>
                  <a:srgbClr val="9A9CB2"/>
                </a:solidFill>
                <a:latin typeface="Calibri"/>
                <a:ea typeface="Calibri"/>
                <a:cs typeface="Calibri"/>
                <a:sym typeface="Calibri"/>
              </a:rPr>
              <a:t>showing</a:t>
            </a:r>
            <a:r>
              <a:rPr lang="en-US" sz="1100" dirty="0">
                <a:solidFill>
                  <a:schemeClr val="dk1"/>
                </a:solidFill>
                <a:latin typeface="Calibri"/>
                <a:ea typeface="Calibri"/>
                <a:cs typeface="Calibri"/>
                <a:sym typeface="Calibri"/>
              </a:rPr>
              <a:t> </a:t>
            </a:r>
            <a:r>
              <a:rPr lang="en-US" sz="1100" dirty="0">
                <a:solidFill>
                  <a:srgbClr val="9A9CB2"/>
                </a:solidFill>
                <a:latin typeface="Calibri"/>
                <a:ea typeface="Calibri"/>
                <a:cs typeface="Calibri"/>
                <a:sym typeface="Calibri"/>
              </a:rPr>
              <a:t>how it works</a:t>
            </a:r>
            <a:endParaRPr sz="1100" dirty="0">
              <a:solidFill>
                <a:schemeClr val="dk1"/>
              </a:solidFill>
              <a:latin typeface="Calibri"/>
              <a:ea typeface="Calibri"/>
              <a:cs typeface="Calibri"/>
              <a:sym typeface="Calibri"/>
            </a:endParaRPr>
          </a:p>
        </p:txBody>
      </p:sp>
      <p:sp>
        <p:nvSpPr>
          <p:cNvPr id="123" name="Google Shape;123;p7"/>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124" name="Google Shape;124;p7"/>
          <p:cNvPicPr preferRelativeResize="0"/>
          <p:nvPr/>
        </p:nvPicPr>
        <p:blipFill rotWithShape="1">
          <a:blip r:embed="rId7">
            <a:alphaModFix/>
          </a:blip>
          <a:srcRect r="55655"/>
          <a:stretch/>
        </p:blipFill>
        <p:spPr>
          <a:xfrm>
            <a:off x="566928" y="302768"/>
            <a:ext cx="323705" cy="314960"/>
          </a:xfrm>
          <a:prstGeom prst="rect">
            <a:avLst/>
          </a:prstGeom>
          <a:noFill/>
          <a:ln>
            <a:noFill/>
          </a:ln>
        </p:spPr>
      </p:pic>
      <p:sp>
        <p:nvSpPr>
          <p:cNvPr id="2" name="AutoShape 2">
            <a:extLst>
              <a:ext uri="{FF2B5EF4-FFF2-40B4-BE49-F238E27FC236}">
                <a16:creationId xmlns:a16="http://schemas.microsoft.com/office/drawing/2014/main" id="{EB9F483C-C44D-4485-A566-5F7690BE310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a:extLst>
              <a:ext uri="{FF2B5EF4-FFF2-40B4-BE49-F238E27FC236}">
                <a16:creationId xmlns:a16="http://schemas.microsoft.com/office/drawing/2014/main" id="{F6512012-0CFE-4AC5-875D-9321D301B8B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A601791D-A422-4EBC-A04A-2414B533D971}"/>
              </a:ext>
            </a:extLst>
          </p:cNvPr>
          <p:cNvPicPr>
            <a:picLocks noChangeAspect="1"/>
          </p:cNvPicPr>
          <p:nvPr/>
        </p:nvPicPr>
        <p:blipFill>
          <a:blip r:embed="rId8"/>
          <a:stretch>
            <a:fillRect/>
          </a:stretch>
        </p:blipFill>
        <p:spPr>
          <a:xfrm>
            <a:off x="6153910" y="1842009"/>
            <a:ext cx="5676135" cy="40147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p8"/>
          <p:cNvSpPr/>
          <p:nvPr/>
        </p:nvSpPr>
        <p:spPr>
          <a:xfrm>
            <a:off x="566929" y="4599432"/>
            <a:ext cx="5852160" cy="1754632"/>
          </a:xfrm>
          <a:prstGeom prst="roundRect">
            <a:avLst>
              <a:gd name="adj" fmla="val 3117"/>
            </a:avLst>
          </a:prstGeom>
          <a:solidFill>
            <a:srgbClr val="FBFBFE"/>
          </a:solidFill>
          <a:ln w="15875" cap="flat" cmpd="sng">
            <a:solidFill>
              <a:srgbClr val="E5E4F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1" name="Google Shape;131;p8"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132" name="Google Shape;132;p8"/>
          <p:cNvSpPr/>
          <p:nvPr/>
        </p:nvSpPr>
        <p:spPr>
          <a:xfrm>
            <a:off x="841248" y="1014984"/>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Market Opportunity</a:t>
            </a:r>
            <a:endParaRPr sz="2700">
              <a:solidFill>
                <a:schemeClr val="dk1"/>
              </a:solidFill>
              <a:latin typeface="Calibri"/>
              <a:ea typeface="Calibri"/>
              <a:cs typeface="Calibri"/>
              <a:sym typeface="Calibri"/>
            </a:endParaRPr>
          </a:p>
        </p:txBody>
      </p:sp>
      <p:pic>
        <p:nvPicPr>
          <p:cNvPr id="133" name="Google Shape;133;p8" descr="preencoded.png"/>
          <p:cNvPicPr preferRelativeResize="0"/>
          <p:nvPr/>
        </p:nvPicPr>
        <p:blipFill rotWithShape="1">
          <a:blip r:embed="rId4">
            <a:alphaModFix/>
          </a:blip>
          <a:srcRect/>
          <a:stretch/>
        </p:blipFill>
        <p:spPr>
          <a:xfrm>
            <a:off x="566928" y="1965960"/>
            <a:ext cx="5852160" cy="731520"/>
          </a:xfrm>
          <a:prstGeom prst="rect">
            <a:avLst/>
          </a:prstGeom>
          <a:noFill/>
          <a:ln>
            <a:noFill/>
          </a:ln>
        </p:spPr>
      </p:pic>
      <p:sp>
        <p:nvSpPr>
          <p:cNvPr id="134" name="Google Shape;134;p8"/>
          <p:cNvSpPr/>
          <p:nvPr/>
        </p:nvSpPr>
        <p:spPr>
          <a:xfrm>
            <a:off x="841248" y="2039112"/>
            <a:ext cx="539496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Montserrat"/>
              <a:buNone/>
            </a:pPr>
            <a:endParaRPr lang="en-US" b="1" dirty="0"/>
          </a:p>
          <a:p>
            <a:pPr marL="0" marR="0" lvl="0" indent="0" algn="l" rtl="0">
              <a:spcBef>
                <a:spcPts val="0"/>
              </a:spcBef>
              <a:spcAft>
                <a:spcPts val="0"/>
              </a:spcAft>
              <a:buClr>
                <a:srgbClr val="FFFFFF"/>
              </a:buClr>
              <a:buSzPts val="1500"/>
              <a:buFont typeface="Montserrat"/>
              <a:buNone/>
            </a:pPr>
            <a:r>
              <a:rPr lang="en-US" b="1" dirty="0"/>
              <a:t>[ ₹ 50,000+ Cr ]</a:t>
            </a:r>
            <a:r>
              <a:rPr lang="en-US" dirty="0"/>
              <a:t> - Overall EdTech, Digital Wellness, &amp; </a:t>
            </a:r>
            <a:r>
              <a:rPr lang="en-US" dirty="0" err="1"/>
              <a:t>DeepTech</a:t>
            </a:r>
            <a:r>
              <a:rPr lang="en-US" dirty="0"/>
              <a:t> market in India. </a:t>
            </a:r>
            <a:endParaRPr dirty="0">
              <a:solidFill>
                <a:schemeClr val="dk1"/>
              </a:solidFill>
              <a:latin typeface="Calibri"/>
              <a:ea typeface="Calibri"/>
              <a:cs typeface="Calibri"/>
              <a:sym typeface="Calibri"/>
            </a:endParaRPr>
          </a:p>
        </p:txBody>
      </p:sp>
      <p:sp>
        <p:nvSpPr>
          <p:cNvPr id="135" name="Google Shape;135;p8"/>
          <p:cNvSpPr/>
          <p:nvPr/>
        </p:nvSpPr>
        <p:spPr>
          <a:xfrm>
            <a:off x="841248" y="2350008"/>
            <a:ext cx="53949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3E1EE"/>
              </a:buClr>
              <a:buSzPts val="1000"/>
              <a:buFont typeface="Calibri"/>
              <a:buNone/>
            </a:pPr>
            <a:endParaRPr sz="1000" dirty="0">
              <a:solidFill>
                <a:schemeClr val="dk1"/>
              </a:solidFill>
              <a:latin typeface="Calibri"/>
              <a:ea typeface="Calibri"/>
              <a:cs typeface="Calibri"/>
              <a:sym typeface="Calibri"/>
            </a:endParaRPr>
          </a:p>
        </p:txBody>
      </p:sp>
      <p:pic>
        <p:nvPicPr>
          <p:cNvPr id="136" name="Google Shape;136;p8" descr="preencoded.png"/>
          <p:cNvPicPr preferRelativeResize="0"/>
          <p:nvPr/>
        </p:nvPicPr>
        <p:blipFill rotWithShape="1">
          <a:blip r:embed="rId5">
            <a:alphaModFix/>
          </a:blip>
          <a:srcRect/>
          <a:stretch/>
        </p:blipFill>
        <p:spPr>
          <a:xfrm>
            <a:off x="566928" y="2807208"/>
            <a:ext cx="4480560" cy="731520"/>
          </a:xfrm>
          <a:prstGeom prst="rect">
            <a:avLst/>
          </a:prstGeom>
          <a:noFill/>
          <a:ln>
            <a:noFill/>
          </a:ln>
        </p:spPr>
      </p:pic>
      <p:sp>
        <p:nvSpPr>
          <p:cNvPr id="137" name="Google Shape;137;p8"/>
          <p:cNvSpPr/>
          <p:nvPr/>
        </p:nvSpPr>
        <p:spPr>
          <a:xfrm>
            <a:off x="841248" y="2880360"/>
            <a:ext cx="402336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Montserrat"/>
              <a:buNone/>
            </a:pPr>
            <a:endParaRPr lang="en-US" b="1" dirty="0"/>
          </a:p>
          <a:p>
            <a:pPr marL="0" marR="0" lvl="0" indent="0" algn="l" rtl="0">
              <a:spcBef>
                <a:spcPts val="0"/>
              </a:spcBef>
              <a:spcAft>
                <a:spcPts val="0"/>
              </a:spcAft>
              <a:buClr>
                <a:srgbClr val="FFFFFF"/>
              </a:buClr>
              <a:buSzPts val="1500"/>
              <a:buFont typeface="Montserrat"/>
              <a:buNone/>
            </a:pPr>
            <a:r>
              <a:rPr lang="en-US" b="1" dirty="0"/>
              <a:t>[ ₹ 10,000+ Cr ]</a:t>
            </a:r>
            <a:r>
              <a:rPr lang="en-US" dirty="0"/>
              <a:t> - Rural EdTech, localized AI tools,</a:t>
            </a:r>
          </a:p>
          <a:p>
            <a:pPr marL="0" marR="0" lvl="0" indent="0" algn="l" rtl="0">
              <a:spcBef>
                <a:spcPts val="0"/>
              </a:spcBef>
              <a:spcAft>
                <a:spcPts val="0"/>
              </a:spcAft>
              <a:buClr>
                <a:srgbClr val="FFFFFF"/>
              </a:buClr>
              <a:buSzPts val="1500"/>
              <a:buFont typeface="Montserrat"/>
              <a:buNone/>
            </a:pPr>
            <a:r>
              <a:rPr lang="en-US" dirty="0"/>
              <a:t> and grassroots skill development. </a:t>
            </a:r>
            <a:endParaRPr dirty="0">
              <a:solidFill>
                <a:schemeClr val="dk1"/>
              </a:solidFill>
              <a:latin typeface="Calibri"/>
              <a:ea typeface="Calibri"/>
              <a:cs typeface="Calibri"/>
              <a:sym typeface="Calibri"/>
            </a:endParaRPr>
          </a:p>
        </p:txBody>
      </p:sp>
      <p:sp>
        <p:nvSpPr>
          <p:cNvPr id="138" name="Google Shape;138;p8"/>
          <p:cNvSpPr/>
          <p:nvPr/>
        </p:nvSpPr>
        <p:spPr>
          <a:xfrm>
            <a:off x="841248" y="3191256"/>
            <a:ext cx="4023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3E1EE"/>
              </a:buClr>
              <a:buSzPts val="1000"/>
              <a:buFont typeface="Calibri"/>
              <a:buNone/>
            </a:pPr>
            <a:endParaRPr sz="1000" dirty="0">
              <a:solidFill>
                <a:schemeClr val="dk1"/>
              </a:solidFill>
              <a:latin typeface="Calibri"/>
              <a:ea typeface="Calibri"/>
              <a:cs typeface="Calibri"/>
              <a:sym typeface="Calibri"/>
            </a:endParaRPr>
          </a:p>
        </p:txBody>
      </p:sp>
      <p:pic>
        <p:nvPicPr>
          <p:cNvPr id="139" name="Google Shape;139;p8" descr="preencoded.png"/>
          <p:cNvPicPr preferRelativeResize="0"/>
          <p:nvPr/>
        </p:nvPicPr>
        <p:blipFill rotWithShape="1">
          <a:blip r:embed="rId6">
            <a:alphaModFix/>
          </a:blip>
          <a:srcRect/>
          <a:stretch/>
        </p:blipFill>
        <p:spPr>
          <a:xfrm>
            <a:off x="566928" y="3648456"/>
            <a:ext cx="3200400" cy="731520"/>
          </a:xfrm>
          <a:prstGeom prst="rect">
            <a:avLst/>
          </a:prstGeom>
          <a:noFill/>
          <a:ln>
            <a:noFill/>
          </a:ln>
        </p:spPr>
      </p:pic>
      <p:sp>
        <p:nvSpPr>
          <p:cNvPr id="140" name="Google Shape;140;p8"/>
          <p:cNvSpPr/>
          <p:nvPr/>
        </p:nvSpPr>
        <p:spPr>
          <a:xfrm>
            <a:off x="841248" y="3721608"/>
            <a:ext cx="274320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Montserrat"/>
              <a:buNone/>
            </a:pPr>
            <a:endParaRPr sz="1500" dirty="0">
              <a:solidFill>
                <a:schemeClr val="dk1"/>
              </a:solidFill>
              <a:latin typeface="Calibri"/>
              <a:ea typeface="Calibri"/>
              <a:cs typeface="Calibri"/>
              <a:sym typeface="Calibri"/>
            </a:endParaRPr>
          </a:p>
        </p:txBody>
      </p:sp>
      <p:sp>
        <p:nvSpPr>
          <p:cNvPr id="141" name="Google Shape;141;p8"/>
          <p:cNvSpPr/>
          <p:nvPr/>
        </p:nvSpPr>
        <p:spPr>
          <a:xfrm>
            <a:off x="841248" y="4032504"/>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3E1EE"/>
              </a:buClr>
              <a:buSzPts val="1000"/>
              <a:buFont typeface="Calibri"/>
              <a:buNone/>
            </a:pPr>
            <a:endParaRPr sz="1000" dirty="0">
              <a:solidFill>
                <a:schemeClr val="dk1"/>
              </a:solidFill>
              <a:latin typeface="Calibri"/>
              <a:ea typeface="Calibri"/>
              <a:cs typeface="Calibri"/>
              <a:sym typeface="Calibri"/>
            </a:endParaRPr>
          </a:p>
        </p:txBody>
      </p:sp>
      <p:sp>
        <p:nvSpPr>
          <p:cNvPr id="142" name="Google Shape;142;p8"/>
          <p:cNvSpPr/>
          <p:nvPr/>
        </p:nvSpPr>
        <p:spPr>
          <a:xfrm>
            <a:off x="566928" y="4562857"/>
            <a:ext cx="528447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endParaRPr lang="en-US" i="1" dirty="0"/>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endParaRPr lang="en-US" i="1" dirty="0"/>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endParaRPr lang="en-US" i="1" dirty="0"/>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endParaRPr lang="en-US" i="1" dirty="0"/>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r>
              <a:rPr lang="en-US" sz="1400" i="1" dirty="0"/>
              <a:t>(Sizing based on the vast population of rural students in India </a:t>
            </a:r>
          </a:p>
          <a:p>
            <a:pPr marL="0" marR="0" lvl="0" indent="0" algn="ctr" rtl="0">
              <a:spcBef>
                <a:spcPts val="0"/>
              </a:spcBef>
              <a:spcAft>
                <a:spcPts val="0"/>
              </a:spcAft>
              <a:buClr>
                <a:srgbClr val="55586F"/>
              </a:buClr>
              <a:buSzPts val="1100"/>
              <a:buFont typeface="Calibri"/>
              <a:buNone/>
            </a:pPr>
            <a:r>
              <a:rPr lang="en-US" sz="1400" i="1" dirty="0"/>
              <a:t>transitioning to digital learning, combined with the rapidly expanding refurbished hardware market).</a:t>
            </a:r>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endParaRPr lang="en-US" i="1" dirty="0"/>
          </a:p>
          <a:p>
            <a:pPr marL="0" marR="0" lvl="0" indent="0" algn="ctr" rtl="0">
              <a:spcBef>
                <a:spcPts val="0"/>
              </a:spcBef>
              <a:spcAft>
                <a:spcPts val="0"/>
              </a:spcAft>
              <a:buClr>
                <a:srgbClr val="55586F"/>
              </a:buClr>
              <a:buSzPts val="1100"/>
              <a:buFont typeface="Calibri"/>
              <a:buNone/>
            </a:pPr>
            <a:endParaRPr lang="en-US" sz="1400" i="1" dirty="0"/>
          </a:p>
          <a:p>
            <a:pPr marL="0" marR="0" lvl="0" indent="0" algn="ctr" rtl="0">
              <a:spcBef>
                <a:spcPts val="0"/>
              </a:spcBef>
              <a:spcAft>
                <a:spcPts val="0"/>
              </a:spcAft>
              <a:buClr>
                <a:srgbClr val="55586F"/>
              </a:buClr>
              <a:buSzPts val="1100"/>
              <a:buFont typeface="Calibri"/>
              <a:buNone/>
            </a:pPr>
            <a:r>
              <a:rPr lang="en-US" sz="1400" dirty="0"/>
              <a:t> </a:t>
            </a:r>
            <a:endParaRPr lang="en-US" sz="1100" dirty="0">
              <a:solidFill>
                <a:schemeClr val="dk1"/>
              </a:solidFill>
              <a:latin typeface="Calibri"/>
              <a:ea typeface="Calibri"/>
              <a:cs typeface="Calibri"/>
              <a:sym typeface="Calibri"/>
            </a:endParaRPr>
          </a:p>
        </p:txBody>
      </p:sp>
      <p:sp>
        <p:nvSpPr>
          <p:cNvPr id="143" name="Google Shape;143;p8"/>
          <p:cNvSpPr/>
          <p:nvPr/>
        </p:nvSpPr>
        <p:spPr>
          <a:xfrm>
            <a:off x="6693408" y="1965960"/>
            <a:ext cx="4931359" cy="1974088"/>
          </a:xfrm>
          <a:prstGeom prst="roundRect">
            <a:avLst>
              <a:gd name="adj" fmla="val 7742"/>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4" name="Google Shape;144;p8" descr="preencoded.png"/>
          <p:cNvPicPr preferRelativeResize="0"/>
          <p:nvPr/>
        </p:nvPicPr>
        <p:blipFill rotWithShape="1">
          <a:blip r:embed="rId7">
            <a:alphaModFix/>
          </a:blip>
          <a:srcRect/>
          <a:stretch/>
        </p:blipFill>
        <p:spPr>
          <a:xfrm>
            <a:off x="6967728" y="2240280"/>
            <a:ext cx="502920" cy="502920"/>
          </a:xfrm>
          <a:prstGeom prst="rect">
            <a:avLst/>
          </a:prstGeom>
          <a:noFill/>
          <a:ln>
            <a:noFill/>
          </a:ln>
        </p:spPr>
      </p:pic>
      <p:pic>
        <p:nvPicPr>
          <p:cNvPr id="145" name="Google Shape;145;p8" descr="preencoded.png"/>
          <p:cNvPicPr preferRelativeResize="0"/>
          <p:nvPr/>
        </p:nvPicPr>
        <p:blipFill rotWithShape="1">
          <a:blip r:embed="rId8">
            <a:alphaModFix/>
          </a:blip>
          <a:srcRect/>
          <a:stretch/>
        </p:blipFill>
        <p:spPr>
          <a:xfrm>
            <a:off x="7118604" y="2391156"/>
            <a:ext cx="201168" cy="201168"/>
          </a:xfrm>
          <a:prstGeom prst="rect">
            <a:avLst/>
          </a:prstGeom>
          <a:noFill/>
          <a:ln>
            <a:noFill/>
          </a:ln>
        </p:spPr>
      </p:pic>
      <p:sp>
        <p:nvSpPr>
          <p:cNvPr id="146" name="Google Shape;146;p8"/>
          <p:cNvSpPr/>
          <p:nvPr/>
        </p:nvSpPr>
        <p:spPr>
          <a:xfrm>
            <a:off x="7653528" y="2258568"/>
            <a:ext cx="3742639"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600"/>
              <a:buFont typeface="Montserrat"/>
              <a:buNone/>
            </a:pPr>
            <a:r>
              <a:rPr lang="en-US" sz="1600" b="1">
                <a:solidFill>
                  <a:srgbClr val="1B1838"/>
                </a:solidFill>
                <a:latin typeface="Montserrat"/>
                <a:ea typeface="Montserrat"/>
                <a:cs typeface="Montserrat"/>
                <a:sym typeface="Montserrat"/>
              </a:rPr>
              <a:t>Why now?</a:t>
            </a:r>
            <a:endParaRPr sz="1600">
              <a:solidFill>
                <a:schemeClr val="dk1"/>
              </a:solidFill>
              <a:latin typeface="Calibri"/>
              <a:ea typeface="Calibri"/>
              <a:cs typeface="Calibri"/>
              <a:sym typeface="Calibri"/>
            </a:endParaRPr>
          </a:p>
        </p:txBody>
      </p:sp>
      <p:sp>
        <p:nvSpPr>
          <p:cNvPr id="147" name="Google Shape;147;p8"/>
          <p:cNvSpPr/>
          <p:nvPr/>
        </p:nvSpPr>
        <p:spPr>
          <a:xfrm>
            <a:off x="6967728" y="2743200"/>
            <a:ext cx="4382719"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100"/>
              <a:buFont typeface="Calibri"/>
              <a:buNone/>
            </a:pPr>
            <a:endParaRPr lang="en-US" sz="1200" b="1" dirty="0"/>
          </a:p>
          <a:p>
            <a:pPr marL="0" marR="0" lvl="0" indent="0" algn="ctr" rtl="0">
              <a:spcBef>
                <a:spcPts val="0"/>
              </a:spcBef>
              <a:spcAft>
                <a:spcPts val="0"/>
              </a:spcAft>
              <a:buClr>
                <a:srgbClr val="55586F"/>
              </a:buClr>
              <a:buSzPts val="1100"/>
              <a:buFont typeface="Calibri"/>
              <a:buNone/>
            </a:pPr>
            <a:r>
              <a:rPr lang="en-US" sz="1200" b="1" dirty="0"/>
              <a:t>Why now?</a:t>
            </a:r>
            <a:r>
              <a:rPr lang="en-US" sz="1200" dirty="0"/>
              <a:t> India is digitizing, yet e-waste is peaking and foreign AI dominates. The convergence of </a:t>
            </a:r>
            <a:r>
              <a:rPr lang="en-US" sz="1200" i="1" dirty="0" err="1"/>
              <a:t>Atmanirbhar</a:t>
            </a:r>
            <a:r>
              <a:rPr lang="en-US" sz="1200" i="1" dirty="0"/>
              <a:t> Bharat</a:t>
            </a:r>
            <a:r>
              <a:rPr lang="en-US" sz="1200" dirty="0"/>
              <a:t>, NLP for local languages, and refurbished hardware processing makes this the perfect time to build a "Digital Nalanda.“</a:t>
            </a:r>
            <a:endParaRPr lang="en-US" sz="1200" i="1" dirty="0"/>
          </a:p>
        </p:txBody>
      </p:sp>
      <p:sp>
        <p:nvSpPr>
          <p:cNvPr id="148" name="Google Shape;148;p8"/>
          <p:cNvSpPr/>
          <p:nvPr/>
        </p:nvSpPr>
        <p:spPr>
          <a:xfrm>
            <a:off x="6693408" y="4379976"/>
            <a:ext cx="4931359" cy="1974088"/>
          </a:xfrm>
          <a:prstGeom prst="roundRect">
            <a:avLst>
              <a:gd name="adj" fmla="val 7742"/>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49" name="Google Shape;149;p8" descr="preencoded.png"/>
          <p:cNvPicPr preferRelativeResize="0"/>
          <p:nvPr/>
        </p:nvPicPr>
        <p:blipFill rotWithShape="1">
          <a:blip r:embed="rId7">
            <a:alphaModFix/>
          </a:blip>
          <a:srcRect/>
          <a:stretch/>
        </p:blipFill>
        <p:spPr>
          <a:xfrm>
            <a:off x="6967728" y="4626864"/>
            <a:ext cx="502920" cy="502920"/>
          </a:xfrm>
          <a:prstGeom prst="rect">
            <a:avLst/>
          </a:prstGeom>
          <a:noFill/>
          <a:ln>
            <a:noFill/>
          </a:ln>
        </p:spPr>
      </p:pic>
      <p:pic>
        <p:nvPicPr>
          <p:cNvPr id="150" name="Google Shape;150;p8" descr="preencoded.png"/>
          <p:cNvPicPr preferRelativeResize="0"/>
          <p:nvPr/>
        </p:nvPicPr>
        <p:blipFill rotWithShape="1">
          <a:blip r:embed="rId9">
            <a:alphaModFix/>
          </a:blip>
          <a:srcRect/>
          <a:stretch/>
        </p:blipFill>
        <p:spPr>
          <a:xfrm>
            <a:off x="7118604" y="4777740"/>
            <a:ext cx="201168" cy="201168"/>
          </a:xfrm>
          <a:prstGeom prst="rect">
            <a:avLst/>
          </a:prstGeom>
          <a:noFill/>
          <a:ln>
            <a:noFill/>
          </a:ln>
        </p:spPr>
      </p:pic>
      <p:sp>
        <p:nvSpPr>
          <p:cNvPr id="151" name="Google Shape;151;p8"/>
          <p:cNvSpPr/>
          <p:nvPr/>
        </p:nvSpPr>
        <p:spPr>
          <a:xfrm>
            <a:off x="7653528" y="4645152"/>
            <a:ext cx="3742639"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600"/>
              <a:buFont typeface="Montserrat"/>
              <a:buNone/>
            </a:pPr>
            <a:r>
              <a:rPr lang="en-US" sz="1600" b="1">
                <a:solidFill>
                  <a:srgbClr val="1B1838"/>
                </a:solidFill>
                <a:latin typeface="Montserrat"/>
                <a:ea typeface="Montserrat"/>
                <a:cs typeface="Montserrat"/>
                <a:sym typeface="Montserrat"/>
              </a:rPr>
              <a:t>Your early adopters?</a:t>
            </a:r>
            <a:endParaRPr sz="1600">
              <a:solidFill>
                <a:schemeClr val="dk1"/>
              </a:solidFill>
              <a:latin typeface="Calibri"/>
              <a:ea typeface="Calibri"/>
              <a:cs typeface="Calibri"/>
              <a:sym typeface="Calibri"/>
            </a:endParaRPr>
          </a:p>
        </p:txBody>
      </p:sp>
      <p:sp>
        <p:nvSpPr>
          <p:cNvPr id="152" name="Google Shape;152;p8"/>
          <p:cNvSpPr/>
          <p:nvPr/>
        </p:nvSpPr>
        <p:spPr>
          <a:xfrm>
            <a:off x="6967728" y="5129784"/>
            <a:ext cx="4382719"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100"/>
              <a:buFont typeface="Calibri"/>
              <a:buNone/>
            </a:pPr>
            <a:r>
              <a:rPr lang="en-US" sz="1200" b="1" dirty="0"/>
              <a:t>Early adopters:</a:t>
            </a:r>
            <a:r>
              <a:rPr lang="en-US" sz="1200" dirty="0"/>
              <a:t> Zila Parishad schools, rural parents, localized healthcare providers, and grassroots educators looking for offline-first solutions. </a:t>
            </a:r>
            <a:endParaRPr lang="en-US" sz="1200" i="1" dirty="0"/>
          </a:p>
        </p:txBody>
      </p:sp>
      <p:sp>
        <p:nvSpPr>
          <p:cNvPr id="153" name="Google Shape;153;p8"/>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154" name="Google Shape;154;p8"/>
          <p:cNvPicPr preferRelativeResize="0"/>
          <p:nvPr/>
        </p:nvPicPr>
        <p:blipFill rotWithShape="1">
          <a:blip r:embed="rId10">
            <a:alphaModFix/>
          </a:blip>
          <a:srcRect r="55655"/>
          <a:stretch/>
        </p:blipFill>
        <p:spPr>
          <a:xfrm>
            <a:off x="566928" y="302768"/>
            <a:ext cx="323705" cy="314960"/>
          </a:xfrm>
          <a:prstGeom prst="rect">
            <a:avLst/>
          </a:prstGeom>
          <a:noFill/>
          <a:ln>
            <a:noFill/>
          </a:ln>
        </p:spPr>
      </p:pic>
      <p:sp>
        <p:nvSpPr>
          <p:cNvPr id="4" name="TextBox 3">
            <a:extLst>
              <a:ext uri="{FF2B5EF4-FFF2-40B4-BE49-F238E27FC236}">
                <a16:creationId xmlns:a16="http://schemas.microsoft.com/office/drawing/2014/main" id="{747B9E91-1A2D-4FE0-AA32-3C6B69955359}"/>
              </a:ext>
            </a:extLst>
          </p:cNvPr>
          <p:cNvSpPr txBox="1"/>
          <p:nvPr/>
        </p:nvSpPr>
        <p:spPr>
          <a:xfrm>
            <a:off x="608076" y="3652741"/>
            <a:ext cx="4215384" cy="738664"/>
          </a:xfrm>
          <a:prstGeom prst="rect">
            <a:avLst/>
          </a:prstGeom>
          <a:noFill/>
        </p:spPr>
        <p:txBody>
          <a:bodyPr wrap="square" rtlCol="0">
            <a:spAutoFit/>
          </a:bodyPr>
          <a:lstStyle/>
          <a:p>
            <a:r>
              <a:rPr lang="en-US" b="1" dirty="0"/>
              <a:t>SOM [ ₹ 500+ Cr ]</a:t>
            </a:r>
            <a:r>
              <a:rPr lang="en-US" dirty="0"/>
              <a:t> - State-level Zila Parishad schools and regional CSR tech implementations achievable in 3-5 years.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9"/>
        <p:cNvGrpSpPr/>
        <p:nvPr/>
      </p:nvGrpSpPr>
      <p:grpSpPr>
        <a:xfrm>
          <a:off x="0" y="0"/>
          <a:ext cx="0" cy="0"/>
          <a:chOff x="0" y="0"/>
          <a:chExt cx="0" cy="0"/>
        </a:xfrm>
      </p:grpSpPr>
      <p:pic>
        <p:nvPicPr>
          <p:cNvPr id="160" name="Google Shape;160;p9"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161" name="Google Shape;161;p9"/>
          <p:cNvSpPr/>
          <p:nvPr/>
        </p:nvSpPr>
        <p:spPr>
          <a:xfrm>
            <a:off x="821283" y="1024128"/>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Business Model</a:t>
            </a:r>
            <a:endParaRPr sz="2700">
              <a:solidFill>
                <a:schemeClr val="dk1"/>
              </a:solidFill>
              <a:latin typeface="Calibri"/>
              <a:ea typeface="Calibri"/>
              <a:cs typeface="Calibri"/>
              <a:sym typeface="Calibri"/>
            </a:endParaRPr>
          </a:p>
        </p:txBody>
      </p:sp>
      <p:sp>
        <p:nvSpPr>
          <p:cNvPr id="162" name="Google Shape;162;p9"/>
          <p:cNvSpPr/>
          <p:nvPr/>
        </p:nvSpPr>
        <p:spPr>
          <a:xfrm>
            <a:off x="575767" y="1897380"/>
            <a:ext cx="3246120" cy="2011680"/>
          </a:xfrm>
          <a:prstGeom prst="roundRect">
            <a:avLst>
              <a:gd name="adj" fmla="val 5455"/>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3" name="Google Shape;163;p9" descr="preencoded.png"/>
          <p:cNvPicPr preferRelativeResize="0"/>
          <p:nvPr/>
        </p:nvPicPr>
        <p:blipFill rotWithShape="1">
          <a:blip r:embed="rId4">
            <a:alphaModFix/>
          </a:blip>
          <a:srcRect/>
          <a:stretch/>
        </p:blipFill>
        <p:spPr>
          <a:xfrm>
            <a:off x="1878787" y="2171700"/>
            <a:ext cx="640080" cy="640080"/>
          </a:xfrm>
          <a:prstGeom prst="rect">
            <a:avLst/>
          </a:prstGeom>
          <a:noFill/>
          <a:ln>
            <a:noFill/>
          </a:ln>
        </p:spPr>
      </p:pic>
      <p:pic>
        <p:nvPicPr>
          <p:cNvPr id="164" name="Google Shape;164;p9" descr="preencoded.png"/>
          <p:cNvPicPr preferRelativeResize="0"/>
          <p:nvPr/>
        </p:nvPicPr>
        <p:blipFill rotWithShape="1">
          <a:blip r:embed="rId5">
            <a:alphaModFix/>
          </a:blip>
          <a:srcRect/>
          <a:stretch/>
        </p:blipFill>
        <p:spPr>
          <a:xfrm>
            <a:off x="2070811" y="2363724"/>
            <a:ext cx="256032" cy="256032"/>
          </a:xfrm>
          <a:prstGeom prst="rect">
            <a:avLst/>
          </a:prstGeom>
          <a:noFill/>
          <a:ln>
            <a:noFill/>
          </a:ln>
        </p:spPr>
      </p:pic>
      <p:sp>
        <p:nvSpPr>
          <p:cNvPr id="165" name="Google Shape;165;p9"/>
          <p:cNvSpPr/>
          <p:nvPr/>
        </p:nvSpPr>
        <p:spPr>
          <a:xfrm>
            <a:off x="575767" y="2921508"/>
            <a:ext cx="324612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500"/>
              <a:buFont typeface="Montserrat"/>
              <a:buNone/>
            </a:pPr>
            <a:r>
              <a:rPr lang="en-US" sz="1500" b="1" dirty="0">
                <a:solidFill>
                  <a:srgbClr val="1B1838"/>
                </a:solidFill>
                <a:latin typeface="Montserrat"/>
                <a:ea typeface="Montserrat"/>
                <a:cs typeface="Montserrat"/>
                <a:sym typeface="Montserrat"/>
              </a:rPr>
              <a:t>Who pays?</a:t>
            </a:r>
            <a:endParaRPr sz="1500" dirty="0">
              <a:solidFill>
                <a:schemeClr val="dk1"/>
              </a:solidFill>
              <a:latin typeface="Calibri"/>
              <a:ea typeface="Calibri"/>
              <a:cs typeface="Calibri"/>
              <a:sym typeface="Calibri"/>
            </a:endParaRPr>
          </a:p>
        </p:txBody>
      </p:sp>
      <p:sp>
        <p:nvSpPr>
          <p:cNvPr id="166" name="Google Shape;166;p9"/>
          <p:cNvSpPr/>
          <p:nvPr/>
        </p:nvSpPr>
        <p:spPr>
          <a:xfrm>
            <a:off x="850087" y="3250692"/>
            <a:ext cx="269748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100"/>
              <a:buFont typeface="Calibri"/>
              <a:buNone/>
            </a:pPr>
            <a:r>
              <a:rPr lang="en-US" sz="1200" dirty="0"/>
              <a:t> CSR Initiatives, Government/District Collector tech funds, Philanthropists, and B2B/B2G enterprise clients. </a:t>
            </a:r>
            <a:r>
              <a:rPr lang="en-US" sz="1200" i="1" dirty="0"/>
              <a:t>(The tools remain free for the rural end-user/student).</a:t>
            </a:r>
            <a:endParaRPr sz="1200" dirty="0">
              <a:solidFill>
                <a:schemeClr val="dk1"/>
              </a:solidFill>
              <a:latin typeface="Calibri"/>
              <a:ea typeface="Calibri"/>
              <a:cs typeface="Calibri"/>
              <a:sym typeface="Calibri"/>
            </a:endParaRPr>
          </a:p>
        </p:txBody>
      </p:sp>
      <p:pic>
        <p:nvPicPr>
          <p:cNvPr id="167" name="Google Shape;167;p9" descr="preencoded.png"/>
          <p:cNvPicPr preferRelativeResize="0"/>
          <p:nvPr/>
        </p:nvPicPr>
        <p:blipFill rotWithShape="1">
          <a:blip r:embed="rId6">
            <a:alphaModFix/>
          </a:blip>
          <a:srcRect/>
          <a:stretch/>
        </p:blipFill>
        <p:spPr>
          <a:xfrm>
            <a:off x="3986479" y="2766060"/>
            <a:ext cx="310896" cy="310896"/>
          </a:xfrm>
          <a:prstGeom prst="rect">
            <a:avLst/>
          </a:prstGeom>
          <a:noFill/>
          <a:ln>
            <a:noFill/>
          </a:ln>
        </p:spPr>
      </p:pic>
      <p:sp>
        <p:nvSpPr>
          <p:cNvPr id="168" name="Google Shape;168;p9"/>
          <p:cNvSpPr/>
          <p:nvPr/>
        </p:nvSpPr>
        <p:spPr>
          <a:xfrm>
            <a:off x="4461967" y="1897380"/>
            <a:ext cx="3246120" cy="2011680"/>
          </a:xfrm>
          <a:prstGeom prst="roundRect">
            <a:avLst>
              <a:gd name="adj" fmla="val 5455"/>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9" name="Google Shape;169;p9" descr="preencoded.png"/>
          <p:cNvPicPr preferRelativeResize="0"/>
          <p:nvPr/>
        </p:nvPicPr>
        <p:blipFill rotWithShape="1">
          <a:blip r:embed="rId4">
            <a:alphaModFix/>
          </a:blip>
          <a:srcRect/>
          <a:stretch/>
        </p:blipFill>
        <p:spPr>
          <a:xfrm>
            <a:off x="5764987" y="2171700"/>
            <a:ext cx="640080" cy="640080"/>
          </a:xfrm>
          <a:prstGeom prst="rect">
            <a:avLst/>
          </a:prstGeom>
          <a:noFill/>
          <a:ln>
            <a:noFill/>
          </a:ln>
        </p:spPr>
      </p:pic>
      <p:pic>
        <p:nvPicPr>
          <p:cNvPr id="170" name="Google Shape;170;p9" descr="preencoded.png"/>
          <p:cNvPicPr preferRelativeResize="0"/>
          <p:nvPr/>
        </p:nvPicPr>
        <p:blipFill rotWithShape="1">
          <a:blip r:embed="rId7">
            <a:alphaModFix/>
          </a:blip>
          <a:srcRect/>
          <a:stretch/>
        </p:blipFill>
        <p:spPr>
          <a:xfrm>
            <a:off x="5957011" y="2363724"/>
            <a:ext cx="256032" cy="256032"/>
          </a:xfrm>
          <a:prstGeom prst="rect">
            <a:avLst/>
          </a:prstGeom>
          <a:noFill/>
          <a:ln>
            <a:noFill/>
          </a:ln>
        </p:spPr>
      </p:pic>
      <p:sp>
        <p:nvSpPr>
          <p:cNvPr id="171" name="Google Shape;171;p9"/>
          <p:cNvSpPr/>
          <p:nvPr/>
        </p:nvSpPr>
        <p:spPr>
          <a:xfrm>
            <a:off x="4461967" y="2921508"/>
            <a:ext cx="324612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500"/>
              <a:buFont typeface="Montserrat"/>
              <a:buNone/>
            </a:pPr>
            <a:r>
              <a:rPr lang="en-US" sz="1500" b="1">
                <a:solidFill>
                  <a:srgbClr val="1B1838"/>
                </a:solidFill>
                <a:latin typeface="Montserrat"/>
                <a:ea typeface="Montserrat"/>
                <a:cs typeface="Montserrat"/>
                <a:sym typeface="Montserrat"/>
              </a:rPr>
              <a:t>How they pay?</a:t>
            </a:r>
            <a:endParaRPr sz="1500">
              <a:solidFill>
                <a:schemeClr val="dk1"/>
              </a:solidFill>
              <a:latin typeface="Calibri"/>
              <a:ea typeface="Calibri"/>
              <a:cs typeface="Calibri"/>
              <a:sym typeface="Calibri"/>
            </a:endParaRPr>
          </a:p>
        </p:txBody>
      </p:sp>
      <p:sp>
        <p:nvSpPr>
          <p:cNvPr id="172" name="Google Shape;172;p9"/>
          <p:cNvSpPr/>
          <p:nvPr/>
        </p:nvSpPr>
        <p:spPr>
          <a:xfrm>
            <a:off x="4736287" y="3250692"/>
            <a:ext cx="269748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100"/>
              <a:buFont typeface="Calibri"/>
              <a:buNone/>
            </a:pPr>
            <a:r>
              <a:rPr lang="en-US" b="1" dirty="0"/>
              <a:t>B</a:t>
            </a:r>
            <a:r>
              <a:rPr lang="en-US" sz="1400" dirty="0"/>
              <a:t>ulk licensing for school implementations, hardware setup fees, and project-based CSR  &amp; government grants.</a:t>
            </a:r>
            <a:endParaRPr sz="1100" dirty="0">
              <a:solidFill>
                <a:schemeClr val="dk1"/>
              </a:solidFill>
              <a:latin typeface="Calibri"/>
              <a:ea typeface="Calibri"/>
              <a:cs typeface="Calibri"/>
              <a:sym typeface="Calibri"/>
            </a:endParaRPr>
          </a:p>
        </p:txBody>
      </p:sp>
      <p:pic>
        <p:nvPicPr>
          <p:cNvPr id="173" name="Google Shape;173;p9" descr="preencoded.png"/>
          <p:cNvPicPr preferRelativeResize="0"/>
          <p:nvPr/>
        </p:nvPicPr>
        <p:blipFill rotWithShape="1">
          <a:blip r:embed="rId6">
            <a:alphaModFix/>
          </a:blip>
          <a:srcRect/>
          <a:stretch/>
        </p:blipFill>
        <p:spPr>
          <a:xfrm>
            <a:off x="7872679" y="2766060"/>
            <a:ext cx="310896" cy="310896"/>
          </a:xfrm>
          <a:prstGeom prst="rect">
            <a:avLst/>
          </a:prstGeom>
          <a:noFill/>
          <a:ln>
            <a:noFill/>
          </a:ln>
        </p:spPr>
      </p:pic>
      <p:sp>
        <p:nvSpPr>
          <p:cNvPr id="174" name="Google Shape;174;p9"/>
          <p:cNvSpPr/>
          <p:nvPr/>
        </p:nvSpPr>
        <p:spPr>
          <a:xfrm>
            <a:off x="8348167" y="1897380"/>
            <a:ext cx="3246120" cy="2011680"/>
          </a:xfrm>
          <a:prstGeom prst="roundRect">
            <a:avLst>
              <a:gd name="adj" fmla="val 5455"/>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5" name="Google Shape;175;p9" descr="preencoded.png"/>
          <p:cNvPicPr preferRelativeResize="0"/>
          <p:nvPr/>
        </p:nvPicPr>
        <p:blipFill rotWithShape="1">
          <a:blip r:embed="rId4">
            <a:alphaModFix/>
          </a:blip>
          <a:srcRect/>
          <a:stretch/>
        </p:blipFill>
        <p:spPr>
          <a:xfrm>
            <a:off x="9651187" y="2171700"/>
            <a:ext cx="640080" cy="640080"/>
          </a:xfrm>
          <a:prstGeom prst="rect">
            <a:avLst/>
          </a:prstGeom>
          <a:noFill/>
          <a:ln>
            <a:noFill/>
          </a:ln>
        </p:spPr>
      </p:pic>
      <p:pic>
        <p:nvPicPr>
          <p:cNvPr id="176" name="Google Shape;176;p9" descr="preencoded.png"/>
          <p:cNvPicPr preferRelativeResize="0"/>
          <p:nvPr/>
        </p:nvPicPr>
        <p:blipFill rotWithShape="1">
          <a:blip r:embed="rId8">
            <a:alphaModFix/>
          </a:blip>
          <a:srcRect/>
          <a:stretch/>
        </p:blipFill>
        <p:spPr>
          <a:xfrm>
            <a:off x="9843211" y="2363724"/>
            <a:ext cx="256032" cy="256032"/>
          </a:xfrm>
          <a:prstGeom prst="rect">
            <a:avLst/>
          </a:prstGeom>
          <a:noFill/>
          <a:ln>
            <a:noFill/>
          </a:ln>
        </p:spPr>
      </p:pic>
      <p:sp>
        <p:nvSpPr>
          <p:cNvPr id="177" name="Google Shape;177;p9"/>
          <p:cNvSpPr/>
          <p:nvPr/>
        </p:nvSpPr>
        <p:spPr>
          <a:xfrm>
            <a:off x="8348167" y="2921508"/>
            <a:ext cx="324612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500"/>
              <a:buFont typeface="Montserrat"/>
              <a:buNone/>
            </a:pPr>
            <a:r>
              <a:rPr lang="en-US" sz="1500" b="1">
                <a:solidFill>
                  <a:srgbClr val="1B1838"/>
                </a:solidFill>
                <a:latin typeface="Montserrat"/>
                <a:ea typeface="Montserrat"/>
                <a:cs typeface="Montserrat"/>
                <a:sym typeface="Montserrat"/>
              </a:rPr>
              <a:t>Revenue per customer?</a:t>
            </a:r>
            <a:endParaRPr sz="1500">
              <a:solidFill>
                <a:schemeClr val="dk1"/>
              </a:solidFill>
              <a:latin typeface="Calibri"/>
              <a:ea typeface="Calibri"/>
              <a:cs typeface="Calibri"/>
              <a:sym typeface="Calibri"/>
            </a:endParaRPr>
          </a:p>
        </p:txBody>
      </p:sp>
      <p:sp>
        <p:nvSpPr>
          <p:cNvPr id="178" name="Google Shape;178;p9"/>
          <p:cNvSpPr/>
          <p:nvPr/>
        </p:nvSpPr>
        <p:spPr>
          <a:xfrm>
            <a:off x="8622487" y="3250692"/>
            <a:ext cx="2697480" cy="5943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100"/>
              <a:buFont typeface="Calibri"/>
              <a:buNone/>
            </a:pPr>
            <a:r>
              <a:rPr lang="en-US" sz="1400" dirty="0"/>
              <a:t>₹ [Variable based on district/school size] per deployment.</a:t>
            </a:r>
            <a:endParaRPr sz="1100" dirty="0">
              <a:solidFill>
                <a:schemeClr val="dk1"/>
              </a:solidFill>
              <a:latin typeface="Calibri"/>
              <a:ea typeface="Calibri"/>
              <a:cs typeface="Calibri"/>
              <a:sym typeface="Calibri"/>
            </a:endParaRPr>
          </a:p>
        </p:txBody>
      </p:sp>
      <p:sp>
        <p:nvSpPr>
          <p:cNvPr id="179" name="Google Shape;179;p9"/>
          <p:cNvSpPr/>
          <p:nvPr/>
        </p:nvSpPr>
        <p:spPr>
          <a:xfrm>
            <a:off x="458723" y="4251960"/>
            <a:ext cx="5391760" cy="2011680"/>
          </a:xfrm>
          <a:prstGeom prst="roundRect">
            <a:avLst>
              <a:gd name="adj" fmla="val 8889"/>
            </a:avLst>
          </a:prstGeom>
          <a:solidFill>
            <a:srgbClr val="FFFFFF"/>
          </a:solidFill>
          <a:ln w="12700" cap="flat" cmpd="sng">
            <a:solidFill>
              <a:srgbClr val="E5E4F1"/>
            </a:solidFill>
            <a:prstDash val="solid"/>
            <a:round/>
            <a:headEnd type="none" w="sm" len="sm"/>
            <a:tailEnd type="none" w="sm" len="sm"/>
          </a:ln>
          <a:effectLst>
            <a:outerShdw blurRad="76200" dist="25400" dir="5400000" algn="bl" rotWithShape="0">
              <a:srgbClr val="1B1838">
                <a:alpha val="705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0" name="Google Shape;180;p9" descr="preencoded.png"/>
          <p:cNvPicPr preferRelativeResize="0"/>
          <p:nvPr/>
        </p:nvPicPr>
        <p:blipFill rotWithShape="1">
          <a:blip r:embed="rId9">
            <a:alphaModFix/>
          </a:blip>
          <a:srcRect/>
          <a:stretch/>
        </p:blipFill>
        <p:spPr>
          <a:xfrm>
            <a:off x="821283" y="4478020"/>
            <a:ext cx="457200" cy="457200"/>
          </a:xfrm>
          <a:prstGeom prst="rect">
            <a:avLst/>
          </a:prstGeom>
          <a:noFill/>
          <a:ln>
            <a:noFill/>
          </a:ln>
        </p:spPr>
      </p:pic>
      <p:pic>
        <p:nvPicPr>
          <p:cNvPr id="181" name="Google Shape;181;p9" descr="preencoded.png"/>
          <p:cNvPicPr preferRelativeResize="0"/>
          <p:nvPr/>
        </p:nvPicPr>
        <p:blipFill rotWithShape="1">
          <a:blip r:embed="rId10">
            <a:alphaModFix/>
          </a:blip>
          <a:srcRect/>
          <a:stretch/>
        </p:blipFill>
        <p:spPr>
          <a:xfrm>
            <a:off x="958443" y="4615180"/>
            <a:ext cx="182880" cy="182880"/>
          </a:xfrm>
          <a:prstGeom prst="rect">
            <a:avLst/>
          </a:prstGeom>
          <a:noFill/>
          <a:ln>
            <a:noFill/>
          </a:ln>
        </p:spPr>
      </p:pic>
      <p:sp>
        <p:nvSpPr>
          <p:cNvPr id="182" name="Google Shape;182;p9"/>
          <p:cNvSpPr/>
          <p:nvPr/>
        </p:nvSpPr>
        <p:spPr>
          <a:xfrm>
            <a:off x="1415643" y="4478020"/>
            <a:ext cx="4294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400"/>
              <a:buFont typeface="Montserrat"/>
              <a:buNone/>
            </a:pPr>
            <a:r>
              <a:rPr lang="en-US" sz="1400" b="1">
                <a:solidFill>
                  <a:srgbClr val="1B1838"/>
                </a:solidFill>
                <a:latin typeface="Montserrat"/>
                <a:ea typeface="Montserrat"/>
                <a:cs typeface="Montserrat"/>
                <a:sym typeface="Montserrat"/>
              </a:rPr>
              <a:t>Unit economics</a:t>
            </a:r>
            <a:endParaRPr sz="1400">
              <a:solidFill>
                <a:schemeClr val="dk1"/>
              </a:solidFill>
              <a:latin typeface="Calibri"/>
              <a:ea typeface="Calibri"/>
              <a:cs typeface="Calibri"/>
              <a:sym typeface="Calibri"/>
            </a:endParaRPr>
          </a:p>
        </p:txBody>
      </p:sp>
      <p:sp>
        <p:nvSpPr>
          <p:cNvPr id="183" name="Google Shape;183;p9"/>
          <p:cNvSpPr/>
          <p:nvPr/>
        </p:nvSpPr>
        <p:spPr>
          <a:xfrm>
            <a:off x="821283" y="4953508"/>
            <a:ext cx="48431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86F"/>
              </a:buClr>
              <a:buSzPts val="1100"/>
              <a:buFont typeface="Calibri"/>
              <a:buNone/>
            </a:pPr>
            <a:endParaRPr lang="en-US" sz="1200" dirty="0"/>
          </a:p>
          <a:p>
            <a:pPr marL="0" marR="0" lvl="0" indent="0" algn="l" rtl="0">
              <a:spcBef>
                <a:spcPts val="0"/>
              </a:spcBef>
              <a:spcAft>
                <a:spcPts val="0"/>
              </a:spcAft>
              <a:buClr>
                <a:srgbClr val="55586F"/>
              </a:buClr>
              <a:buSzPts val="1100"/>
              <a:buFont typeface="Calibri"/>
              <a:buNone/>
            </a:pPr>
            <a:endParaRPr lang="en-US" sz="1200" dirty="0"/>
          </a:p>
          <a:p>
            <a:pPr marL="0" marR="0" lvl="0" indent="0" algn="l" rtl="0">
              <a:spcBef>
                <a:spcPts val="0"/>
              </a:spcBef>
              <a:spcAft>
                <a:spcPts val="0"/>
              </a:spcAft>
              <a:buClr>
                <a:srgbClr val="55586F"/>
              </a:buClr>
              <a:buSzPts val="1100"/>
              <a:buFont typeface="Calibri"/>
              <a:buNone/>
            </a:pPr>
            <a:endParaRPr lang="en-US" sz="1200" dirty="0"/>
          </a:p>
          <a:p>
            <a:pPr marL="0" marR="0" lvl="0" indent="0" algn="l" rtl="0">
              <a:spcBef>
                <a:spcPts val="0"/>
              </a:spcBef>
              <a:spcAft>
                <a:spcPts val="0"/>
              </a:spcAft>
              <a:buClr>
                <a:srgbClr val="55586F"/>
              </a:buClr>
              <a:buSzPts val="1100"/>
              <a:buFont typeface="Calibri"/>
              <a:buNone/>
            </a:pPr>
            <a:r>
              <a:rPr lang="en-US" sz="1200" dirty="0"/>
              <a:t>Extremely low CAC due to grassroots word-of-mouth. High gross margin on software. Hardware costs are minimized by upcycling discarded smartphone components into educational tech.</a:t>
            </a:r>
            <a:endParaRPr sz="1200" dirty="0">
              <a:solidFill>
                <a:schemeClr val="dk1"/>
              </a:solidFill>
              <a:latin typeface="Calibri"/>
              <a:ea typeface="Calibri"/>
              <a:cs typeface="Calibri"/>
              <a:sym typeface="Calibri"/>
            </a:endParaRPr>
          </a:p>
        </p:txBody>
      </p:sp>
      <p:sp>
        <p:nvSpPr>
          <p:cNvPr id="184" name="Google Shape;184;p9"/>
          <p:cNvSpPr/>
          <p:nvPr/>
        </p:nvSpPr>
        <p:spPr>
          <a:xfrm>
            <a:off x="6213043" y="4203700"/>
            <a:ext cx="5391760" cy="2011680"/>
          </a:xfrm>
          <a:prstGeom prst="roundRect">
            <a:avLst>
              <a:gd name="adj" fmla="val 8889"/>
            </a:avLst>
          </a:prstGeom>
          <a:solidFill>
            <a:srgbClr val="FFFFFF"/>
          </a:solidFill>
          <a:ln w="12700" cap="flat" cmpd="sng">
            <a:solidFill>
              <a:srgbClr val="E5E4F1"/>
            </a:solidFill>
            <a:prstDash val="solid"/>
            <a:round/>
            <a:headEnd type="none" w="sm" len="sm"/>
            <a:tailEnd type="none" w="sm" len="sm"/>
          </a:ln>
          <a:effectLst>
            <a:outerShdw blurRad="76200" dist="25400" dir="5400000" algn="bl" rotWithShape="0">
              <a:srgbClr val="1B1838">
                <a:alpha val="705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5" name="Google Shape;185;p9" descr="preencoded.png"/>
          <p:cNvPicPr preferRelativeResize="0"/>
          <p:nvPr/>
        </p:nvPicPr>
        <p:blipFill rotWithShape="1">
          <a:blip r:embed="rId9">
            <a:alphaModFix/>
          </a:blip>
          <a:srcRect/>
          <a:stretch/>
        </p:blipFill>
        <p:spPr>
          <a:xfrm>
            <a:off x="6487363" y="4478020"/>
            <a:ext cx="457200" cy="457200"/>
          </a:xfrm>
          <a:prstGeom prst="rect">
            <a:avLst/>
          </a:prstGeom>
          <a:noFill/>
          <a:ln>
            <a:noFill/>
          </a:ln>
        </p:spPr>
      </p:pic>
      <p:pic>
        <p:nvPicPr>
          <p:cNvPr id="186" name="Google Shape;186;p9" descr="preencoded.png"/>
          <p:cNvPicPr preferRelativeResize="0"/>
          <p:nvPr/>
        </p:nvPicPr>
        <p:blipFill rotWithShape="1">
          <a:blip r:embed="rId11">
            <a:alphaModFix/>
          </a:blip>
          <a:srcRect/>
          <a:stretch/>
        </p:blipFill>
        <p:spPr>
          <a:xfrm>
            <a:off x="6624523" y="4615180"/>
            <a:ext cx="182880" cy="182880"/>
          </a:xfrm>
          <a:prstGeom prst="rect">
            <a:avLst/>
          </a:prstGeom>
          <a:noFill/>
          <a:ln>
            <a:noFill/>
          </a:ln>
        </p:spPr>
      </p:pic>
      <p:sp>
        <p:nvSpPr>
          <p:cNvPr id="187" name="Google Shape;187;p9"/>
          <p:cNvSpPr/>
          <p:nvPr/>
        </p:nvSpPr>
        <p:spPr>
          <a:xfrm>
            <a:off x="7081723" y="4478020"/>
            <a:ext cx="4294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400"/>
              <a:buFont typeface="Montserrat"/>
              <a:buNone/>
            </a:pPr>
            <a:r>
              <a:rPr lang="en-US" sz="1400" b="1">
                <a:solidFill>
                  <a:srgbClr val="1B1838"/>
                </a:solidFill>
                <a:latin typeface="Montserrat"/>
                <a:ea typeface="Montserrat"/>
                <a:cs typeface="Montserrat"/>
                <a:sym typeface="Montserrat"/>
              </a:rPr>
              <a:t>Revenue streams</a:t>
            </a:r>
            <a:endParaRPr sz="1400">
              <a:solidFill>
                <a:schemeClr val="dk1"/>
              </a:solidFill>
              <a:latin typeface="Calibri"/>
              <a:ea typeface="Calibri"/>
              <a:cs typeface="Calibri"/>
              <a:sym typeface="Calibri"/>
            </a:endParaRPr>
          </a:p>
        </p:txBody>
      </p:sp>
      <p:sp>
        <p:nvSpPr>
          <p:cNvPr id="188" name="Google Shape;188;p9"/>
          <p:cNvSpPr/>
          <p:nvPr/>
        </p:nvSpPr>
        <p:spPr>
          <a:xfrm>
            <a:off x="6487363" y="4953508"/>
            <a:ext cx="48431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86F"/>
              </a:buClr>
              <a:buSzPts val="1100"/>
              <a:buFont typeface="Calibri"/>
              <a:buNone/>
            </a:pPr>
            <a:endParaRPr lang="en-US" dirty="0"/>
          </a:p>
          <a:p>
            <a:pPr marL="0" marR="0" lvl="0" indent="0" algn="l" rtl="0">
              <a:spcBef>
                <a:spcPts val="0"/>
              </a:spcBef>
              <a:spcAft>
                <a:spcPts val="0"/>
              </a:spcAft>
              <a:buClr>
                <a:srgbClr val="55586F"/>
              </a:buClr>
              <a:buSzPts val="1100"/>
              <a:buFont typeface="Calibri"/>
              <a:buNone/>
            </a:pPr>
            <a:endParaRPr lang="en-US" dirty="0"/>
          </a:p>
          <a:p>
            <a:pPr marL="0" marR="0" lvl="0" indent="0" algn="l" rtl="0">
              <a:spcBef>
                <a:spcPts val="0"/>
              </a:spcBef>
              <a:spcAft>
                <a:spcPts val="0"/>
              </a:spcAft>
              <a:buClr>
                <a:srgbClr val="55586F"/>
              </a:buClr>
              <a:buSzPts val="1100"/>
              <a:buFont typeface="Calibri"/>
              <a:buNone/>
            </a:pPr>
            <a:r>
              <a:rPr lang="en-US" dirty="0"/>
              <a:t>1&gt; B2G School Digitalization Contracts (Primary today)</a:t>
            </a:r>
          </a:p>
          <a:p>
            <a:pPr marL="0" marR="0" lvl="0" indent="0" algn="l" rtl="0">
              <a:spcBef>
                <a:spcPts val="0"/>
              </a:spcBef>
              <a:spcAft>
                <a:spcPts val="0"/>
              </a:spcAft>
              <a:buClr>
                <a:srgbClr val="55586F"/>
              </a:buClr>
              <a:buSzPts val="1100"/>
              <a:buFont typeface="Calibri"/>
              <a:buNone/>
            </a:pPr>
            <a:r>
              <a:rPr lang="en-US" dirty="0"/>
              <a:t>2&gt; CSR-funded rural deployments</a:t>
            </a:r>
          </a:p>
          <a:p>
            <a:pPr marL="0" marR="0" lvl="0" indent="0" algn="l" rtl="0">
              <a:spcBef>
                <a:spcPts val="0"/>
              </a:spcBef>
              <a:spcAft>
                <a:spcPts val="0"/>
              </a:spcAft>
              <a:buClr>
                <a:srgbClr val="55586F"/>
              </a:buClr>
              <a:buSzPts val="1100"/>
              <a:buFont typeface="Calibri"/>
              <a:buNone/>
            </a:pPr>
            <a:r>
              <a:rPr lang="en-US" dirty="0"/>
              <a:t>3&gt; Future: Enterprise API licensing for AI tools (</a:t>
            </a:r>
            <a:r>
              <a:rPr lang="en-US" dirty="0" err="1"/>
              <a:t>Swara</a:t>
            </a:r>
            <a:r>
              <a:rPr lang="en-US" dirty="0"/>
              <a:t> Forensics, Face Reading AI)  </a:t>
            </a:r>
            <a:endParaRPr dirty="0">
              <a:solidFill>
                <a:schemeClr val="dk1"/>
              </a:solidFill>
              <a:latin typeface="Calibri"/>
              <a:ea typeface="Calibri"/>
              <a:cs typeface="Calibri"/>
              <a:sym typeface="Calibri"/>
            </a:endParaRPr>
          </a:p>
        </p:txBody>
      </p:sp>
      <p:sp>
        <p:nvSpPr>
          <p:cNvPr id="189" name="Google Shape;189;p9"/>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190" name="Google Shape;190;p9"/>
          <p:cNvPicPr preferRelativeResize="0"/>
          <p:nvPr/>
        </p:nvPicPr>
        <p:blipFill rotWithShape="1">
          <a:blip r:embed="rId12">
            <a:alphaModFix/>
          </a:blip>
          <a:srcRect r="55655"/>
          <a:stretch/>
        </p:blipFill>
        <p:spPr>
          <a:xfrm>
            <a:off x="566928" y="302768"/>
            <a:ext cx="323705" cy="3149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pic>
        <p:nvPicPr>
          <p:cNvPr id="196" name="Google Shape;196;p10"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197" name="Google Shape;197;p10"/>
          <p:cNvSpPr/>
          <p:nvPr/>
        </p:nvSpPr>
        <p:spPr>
          <a:xfrm>
            <a:off x="841248" y="1024128"/>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Roadmap &amp; Milestones</a:t>
            </a:r>
            <a:endParaRPr sz="2700">
              <a:solidFill>
                <a:schemeClr val="dk1"/>
              </a:solidFill>
              <a:latin typeface="Calibri"/>
              <a:ea typeface="Calibri"/>
              <a:cs typeface="Calibri"/>
              <a:sym typeface="Calibri"/>
            </a:endParaRPr>
          </a:p>
        </p:txBody>
      </p:sp>
      <p:cxnSp>
        <p:nvCxnSpPr>
          <p:cNvPr id="198" name="Google Shape;198;p10"/>
          <p:cNvCxnSpPr/>
          <p:nvPr/>
        </p:nvCxnSpPr>
        <p:spPr>
          <a:xfrm>
            <a:off x="1949158" y="2496312"/>
            <a:ext cx="8293379" cy="0"/>
          </a:xfrm>
          <a:prstGeom prst="straightConnector1">
            <a:avLst/>
          </a:prstGeom>
          <a:noFill/>
          <a:ln w="31750" cap="flat" cmpd="sng">
            <a:solidFill>
              <a:srgbClr val="D8D6EA"/>
            </a:solidFill>
            <a:prstDash val="solid"/>
            <a:round/>
            <a:headEnd type="none" w="sm" len="sm"/>
            <a:tailEnd type="none" w="sm" len="sm"/>
          </a:ln>
        </p:spPr>
      </p:cxnSp>
      <p:pic>
        <p:nvPicPr>
          <p:cNvPr id="199" name="Google Shape;199;p10" descr="preencoded.png"/>
          <p:cNvPicPr preferRelativeResize="0"/>
          <p:nvPr/>
        </p:nvPicPr>
        <p:blipFill rotWithShape="1">
          <a:blip r:embed="rId4">
            <a:alphaModFix/>
          </a:blip>
          <a:srcRect/>
          <a:stretch/>
        </p:blipFill>
        <p:spPr>
          <a:xfrm>
            <a:off x="1647406" y="2194560"/>
            <a:ext cx="603504" cy="603504"/>
          </a:xfrm>
          <a:prstGeom prst="rect">
            <a:avLst/>
          </a:prstGeom>
          <a:noFill/>
          <a:ln>
            <a:noFill/>
          </a:ln>
        </p:spPr>
      </p:pic>
      <p:sp>
        <p:nvSpPr>
          <p:cNvPr id="200" name="Google Shape;200;p10"/>
          <p:cNvSpPr/>
          <p:nvPr/>
        </p:nvSpPr>
        <p:spPr>
          <a:xfrm>
            <a:off x="1647406" y="2194560"/>
            <a:ext cx="603504"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Montserrat"/>
              <a:buNone/>
            </a:pPr>
            <a:r>
              <a:rPr lang="en-US" sz="2200" b="1">
                <a:solidFill>
                  <a:srgbClr val="FFFFFF"/>
                </a:solidFill>
                <a:latin typeface="Montserrat"/>
                <a:ea typeface="Montserrat"/>
                <a:cs typeface="Montserrat"/>
                <a:sym typeface="Montserrat"/>
              </a:rPr>
              <a:t>1</a:t>
            </a:r>
            <a:endParaRPr sz="2200">
              <a:solidFill>
                <a:schemeClr val="dk1"/>
              </a:solidFill>
              <a:latin typeface="Calibri"/>
              <a:ea typeface="Calibri"/>
              <a:cs typeface="Calibri"/>
              <a:sym typeface="Calibri"/>
            </a:endParaRPr>
          </a:p>
        </p:txBody>
      </p:sp>
      <p:sp>
        <p:nvSpPr>
          <p:cNvPr id="201" name="Google Shape;201;p10"/>
          <p:cNvSpPr/>
          <p:nvPr/>
        </p:nvSpPr>
        <p:spPr>
          <a:xfrm>
            <a:off x="566928" y="2889504"/>
            <a:ext cx="27644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186B"/>
              </a:buClr>
              <a:buSzPts val="1200"/>
              <a:buFont typeface="Montserrat"/>
              <a:buNone/>
            </a:pPr>
            <a:r>
              <a:rPr lang="en-US" sz="1200" b="1">
                <a:solidFill>
                  <a:srgbClr val="C8186B"/>
                </a:solidFill>
                <a:latin typeface="Montserrat"/>
                <a:ea typeface="Montserrat"/>
                <a:cs typeface="Montserrat"/>
                <a:sym typeface="Montserrat"/>
              </a:rPr>
              <a:t>TODAY</a:t>
            </a:r>
            <a:endParaRPr sz="1200">
              <a:solidFill>
                <a:schemeClr val="dk1"/>
              </a:solidFill>
              <a:latin typeface="Calibri"/>
              <a:ea typeface="Calibri"/>
              <a:cs typeface="Calibri"/>
              <a:sym typeface="Calibri"/>
            </a:endParaRPr>
          </a:p>
        </p:txBody>
      </p:sp>
      <p:sp>
        <p:nvSpPr>
          <p:cNvPr id="202" name="Google Shape;202;p10"/>
          <p:cNvSpPr/>
          <p:nvPr/>
        </p:nvSpPr>
        <p:spPr>
          <a:xfrm>
            <a:off x="731520" y="3255264"/>
            <a:ext cx="2435276" cy="2578608"/>
          </a:xfrm>
          <a:prstGeom prst="roundRect">
            <a:avLst>
              <a:gd name="adj" fmla="val 5714"/>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0"/>
          <p:cNvSpPr/>
          <p:nvPr/>
        </p:nvSpPr>
        <p:spPr>
          <a:xfrm>
            <a:off x="914400" y="3456432"/>
            <a:ext cx="2069516"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300"/>
              <a:buFont typeface="Montserrat"/>
              <a:buNone/>
            </a:pPr>
            <a:r>
              <a:rPr lang="en-US" sz="1300" b="1">
                <a:solidFill>
                  <a:srgbClr val="1B1838"/>
                </a:solidFill>
                <a:latin typeface="Montserrat"/>
                <a:ea typeface="Montserrat"/>
                <a:cs typeface="Montserrat"/>
                <a:sym typeface="Montserrat"/>
              </a:rPr>
              <a:t>Where you are today</a:t>
            </a:r>
            <a:endParaRPr sz="1300">
              <a:solidFill>
                <a:schemeClr val="dk1"/>
              </a:solidFill>
              <a:latin typeface="Calibri"/>
              <a:ea typeface="Calibri"/>
              <a:cs typeface="Calibri"/>
              <a:sym typeface="Calibri"/>
            </a:endParaRPr>
          </a:p>
        </p:txBody>
      </p:sp>
      <p:sp>
        <p:nvSpPr>
          <p:cNvPr id="204" name="Google Shape;204;p10"/>
          <p:cNvSpPr/>
          <p:nvPr/>
        </p:nvSpPr>
        <p:spPr>
          <a:xfrm>
            <a:off x="932688" y="4005072"/>
            <a:ext cx="2032940" cy="10789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050"/>
              <a:buFont typeface="Calibri"/>
              <a:buNone/>
            </a:pPr>
            <a:r>
              <a:rPr lang="en-US" sz="1200" b="1" dirty="0"/>
              <a:t>TODAY (Scaling Phase):</a:t>
            </a:r>
            <a:r>
              <a:rPr lang="en-US" sz="1200" dirty="0"/>
              <a:t> Serving 5 million+ children across 5,000+ rural schools with the core </a:t>
            </a:r>
            <a:r>
              <a:rPr lang="en-US" sz="1200" dirty="0" err="1"/>
              <a:t>ePrashala</a:t>
            </a:r>
            <a:r>
              <a:rPr lang="en-US" sz="1200" dirty="0"/>
              <a:t> offline hardware &amp; LMS. Launching specialized AI tools (</a:t>
            </a:r>
            <a:r>
              <a:rPr lang="en-US" sz="1200" dirty="0" err="1"/>
              <a:t>Sanjeevani</a:t>
            </a:r>
            <a:r>
              <a:rPr lang="en-US" sz="1200" dirty="0"/>
              <a:t>, free Aptitude Tests).</a:t>
            </a:r>
            <a:endParaRPr sz="1050" dirty="0">
              <a:solidFill>
                <a:schemeClr val="dk1"/>
              </a:solidFill>
              <a:latin typeface="Calibri"/>
              <a:ea typeface="Calibri"/>
              <a:cs typeface="Calibri"/>
              <a:sym typeface="Calibri"/>
            </a:endParaRPr>
          </a:p>
        </p:txBody>
      </p:sp>
      <p:pic>
        <p:nvPicPr>
          <p:cNvPr id="205" name="Google Shape;205;p10" descr="preencoded.png"/>
          <p:cNvPicPr preferRelativeResize="0"/>
          <p:nvPr/>
        </p:nvPicPr>
        <p:blipFill rotWithShape="1">
          <a:blip r:embed="rId4">
            <a:alphaModFix/>
          </a:blip>
          <a:srcRect/>
          <a:stretch/>
        </p:blipFill>
        <p:spPr>
          <a:xfrm>
            <a:off x="4411866" y="2194560"/>
            <a:ext cx="603504" cy="603504"/>
          </a:xfrm>
          <a:prstGeom prst="rect">
            <a:avLst/>
          </a:prstGeom>
          <a:noFill/>
          <a:ln>
            <a:noFill/>
          </a:ln>
        </p:spPr>
      </p:pic>
      <p:sp>
        <p:nvSpPr>
          <p:cNvPr id="206" name="Google Shape;206;p10"/>
          <p:cNvSpPr/>
          <p:nvPr/>
        </p:nvSpPr>
        <p:spPr>
          <a:xfrm>
            <a:off x="4411866" y="2194560"/>
            <a:ext cx="603504"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Montserrat"/>
              <a:buNone/>
            </a:pPr>
            <a:r>
              <a:rPr lang="en-US" sz="2200" b="1">
                <a:solidFill>
                  <a:srgbClr val="FFFFFF"/>
                </a:solidFill>
                <a:latin typeface="Montserrat"/>
                <a:ea typeface="Montserrat"/>
                <a:cs typeface="Montserrat"/>
                <a:sym typeface="Montserrat"/>
              </a:rPr>
              <a:t>2</a:t>
            </a:r>
            <a:endParaRPr sz="2200">
              <a:solidFill>
                <a:schemeClr val="dk1"/>
              </a:solidFill>
              <a:latin typeface="Calibri"/>
              <a:ea typeface="Calibri"/>
              <a:cs typeface="Calibri"/>
              <a:sym typeface="Calibri"/>
            </a:endParaRPr>
          </a:p>
        </p:txBody>
      </p:sp>
      <p:sp>
        <p:nvSpPr>
          <p:cNvPr id="207" name="Google Shape;207;p10"/>
          <p:cNvSpPr/>
          <p:nvPr/>
        </p:nvSpPr>
        <p:spPr>
          <a:xfrm>
            <a:off x="3331388" y="2889504"/>
            <a:ext cx="27644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186B"/>
              </a:buClr>
              <a:buSzPts val="1200"/>
              <a:buFont typeface="Montserrat"/>
              <a:buNone/>
            </a:pPr>
            <a:r>
              <a:rPr lang="en-US" sz="1200" b="1">
                <a:solidFill>
                  <a:srgbClr val="C8186B"/>
                </a:solidFill>
                <a:latin typeface="Montserrat"/>
                <a:ea typeface="Montserrat"/>
                <a:cs typeface="Montserrat"/>
                <a:sym typeface="Montserrat"/>
              </a:rPr>
              <a:t>+12 MONTHS</a:t>
            </a:r>
            <a:endParaRPr sz="1200">
              <a:solidFill>
                <a:schemeClr val="dk1"/>
              </a:solidFill>
              <a:latin typeface="Calibri"/>
              <a:ea typeface="Calibri"/>
              <a:cs typeface="Calibri"/>
              <a:sym typeface="Calibri"/>
            </a:endParaRPr>
          </a:p>
        </p:txBody>
      </p:sp>
      <p:sp>
        <p:nvSpPr>
          <p:cNvPr id="208" name="Google Shape;208;p10"/>
          <p:cNvSpPr/>
          <p:nvPr/>
        </p:nvSpPr>
        <p:spPr>
          <a:xfrm>
            <a:off x="3495980" y="3255264"/>
            <a:ext cx="2435276" cy="2578608"/>
          </a:xfrm>
          <a:prstGeom prst="roundRect">
            <a:avLst>
              <a:gd name="adj" fmla="val 5714"/>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0"/>
          <p:cNvSpPr/>
          <p:nvPr/>
        </p:nvSpPr>
        <p:spPr>
          <a:xfrm>
            <a:off x="3678860" y="3456432"/>
            <a:ext cx="2069516"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300"/>
              <a:buFont typeface="Montserrat"/>
              <a:buNone/>
            </a:pPr>
            <a:r>
              <a:rPr lang="en-US" sz="1300" b="1">
                <a:solidFill>
                  <a:srgbClr val="1B1838"/>
                </a:solidFill>
                <a:latin typeface="Montserrat"/>
                <a:ea typeface="Montserrat"/>
                <a:cs typeface="Montserrat"/>
                <a:sym typeface="Montserrat"/>
              </a:rPr>
              <a:t>Next milestone</a:t>
            </a:r>
            <a:endParaRPr sz="1300">
              <a:solidFill>
                <a:schemeClr val="dk1"/>
              </a:solidFill>
              <a:latin typeface="Calibri"/>
              <a:ea typeface="Calibri"/>
              <a:cs typeface="Calibri"/>
              <a:sym typeface="Calibri"/>
            </a:endParaRPr>
          </a:p>
        </p:txBody>
      </p:sp>
      <p:sp>
        <p:nvSpPr>
          <p:cNvPr id="210" name="Google Shape;210;p10"/>
          <p:cNvSpPr/>
          <p:nvPr/>
        </p:nvSpPr>
        <p:spPr>
          <a:xfrm>
            <a:off x="3697148" y="4005072"/>
            <a:ext cx="2032940" cy="10789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050"/>
              <a:buFont typeface="Calibri"/>
              <a:buNone/>
            </a:pPr>
            <a:endParaRPr lang="en-US" sz="1200" b="1" dirty="0"/>
          </a:p>
          <a:p>
            <a:pPr marL="0" marR="0" lvl="0" indent="0" algn="ctr" rtl="0">
              <a:spcBef>
                <a:spcPts val="0"/>
              </a:spcBef>
              <a:spcAft>
                <a:spcPts val="0"/>
              </a:spcAft>
              <a:buClr>
                <a:srgbClr val="55586F"/>
              </a:buClr>
              <a:buSzPts val="1050"/>
              <a:buFont typeface="Calibri"/>
              <a:buNone/>
            </a:pPr>
            <a:r>
              <a:rPr lang="en-US" sz="1200" b="1" dirty="0"/>
              <a:t>+12 MONTHS (Next Milestone):</a:t>
            </a:r>
            <a:r>
              <a:rPr lang="en-US" sz="1200" dirty="0"/>
              <a:t> Rollout of the "</a:t>
            </a:r>
            <a:r>
              <a:rPr lang="en-US" sz="1200" dirty="0" err="1"/>
              <a:t>Dhwani</a:t>
            </a:r>
            <a:r>
              <a:rPr lang="en-US" sz="1200" dirty="0"/>
              <a:t>" voice-interactive AI and "</a:t>
            </a:r>
            <a:r>
              <a:rPr lang="en-US" sz="1200" dirty="0" err="1"/>
              <a:t>Swara</a:t>
            </a:r>
            <a:r>
              <a:rPr lang="en-US" sz="1200" dirty="0"/>
              <a:t> Forensics" to 6lakh schools. Establishing the first refurbished hardware micro-data center using discarded smartphone PCBAs.</a:t>
            </a:r>
            <a:endParaRPr sz="1050" dirty="0">
              <a:solidFill>
                <a:schemeClr val="dk1"/>
              </a:solidFill>
              <a:latin typeface="Calibri"/>
              <a:ea typeface="Calibri"/>
              <a:cs typeface="Calibri"/>
              <a:sym typeface="Calibri"/>
            </a:endParaRPr>
          </a:p>
        </p:txBody>
      </p:sp>
      <p:pic>
        <p:nvPicPr>
          <p:cNvPr id="211" name="Google Shape;211;p10" descr="preencoded.png"/>
          <p:cNvPicPr preferRelativeResize="0"/>
          <p:nvPr/>
        </p:nvPicPr>
        <p:blipFill rotWithShape="1">
          <a:blip r:embed="rId4">
            <a:alphaModFix/>
          </a:blip>
          <a:srcRect/>
          <a:stretch/>
        </p:blipFill>
        <p:spPr>
          <a:xfrm>
            <a:off x="7176326" y="2194560"/>
            <a:ext cx="603504" cy="603504"/>
          </a:xfrm>
          <a:prstGeom prst="rect">
            <a:avLst/>
          </a:prstGeom>
          <a:noFill/>
          <a:ln>
            <a:noFill/>
          </a:ln>
        </p:spPr>
      </p:pic>
      <p:sp>
        <p:nvSpPr>
          <p:cNvPr id="212" name="Google Shape;212;p10"/>
          <p:cNvSpPr/>
          <p:nvPr/>
        </p:nvSpPr>
        <p:spPr>
          <a:xfrm>
            <a:off x="7176326" y="2194560"/>
            <a:ext cx="603504"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Montserrat"/>
              <a:buNone/>
            </a:pPr>
            <a:r>
              <a:rPr lang="en-US" sz="2200" b="1">
                <a:solidFill>
                  <a:srgbClr val="FFFFFF"/>
                </a:solidFill>
                <a:latin typeface="Montserrat"/>
                <a:ea typeface="Montserrat"/>
                <a:cs typeface="Montserrat"/>
                <a:sym typeface="Montserrat"/>
              </a:rPr>
              <a:t>3</a:t>
            </a:r>
            <a:endParaRPr sz="2200">
              <a:solidFill>
                <a:schemeClr val="dk1"/>
              </a:solidFill>
              <a:latin typeface="Calibri"/>
              <a:ea typeface="Calibri"/>
              <a:cs typeface="Calibri"/>
              <a:sym typeface="Calibri"/>
            </a:endParaRPr>
          </a:p>
        </p:txBody>
      </p:sp>
      <p:sp>
        <p:nvSpPr>
          <p:cNvPr id="213" name="Google Shape;213;p10"/>
          <p:cNvSpPr/>
          <p:nvPr/>
        </p:nvSpPr>
        <p:spPr>
          <a:xfrm>
            <a:off x="6095848" y="2889504"/>
            <a:ext cx="27644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186B"/>
              </a:buClr>
              <a:buSzPts val="1200"/>
              <a:buFont typeface="Montserrat"/>
              <a:buNone/>
            </a:pPr>
            <a:r>
              <a:rPr lang="en-US" sz="1200" b="1">
                <a:solidFill>
                  <a:srgbClr val="C8186B"/>
                </a:solidFill>
                <a:latin typeface="Montserrat"/>
                <a:ea typeface="Montserrat"/>
                <a:cs typeface="Montserrat"/>
                <a:sym typeface="Montserrat"/>
              </a:rPr>
              <a:t>+2 YEARS</a:t>
            </a:r>
            <a:endParaRPr sz="1200">
              <a:solidFill>
                <a:schemeClr val="dk1"/>
              </a:solidFill>
              <a:latin typeface="Calibri"/>
              <a:ea typeface="Calibri"/>
              <a:cs typeface="Calibri"/>
              <a:sym typeface="Calibri"/>
            </a:endParaRPr>
          </a:p>
        </p:txBody>
      </p:sp>
      <p:sp>
        <p:nvSpPr>
          <p:cNvPr id="214" name="Google Shape;214;p10"/>
          <p:cNvSpPr/>
          <p:nvPr/>
        </p:nvSpPr>
        <p:spPr>
          <a:xfrm>
            <a:off x="6260440" y="3255264"/>
            <a:ext cx="2435276" cy="2578608"/>
          </a:xfrm>
          <a:prstGeom prst="roundRect">
            <a:avLst>
              <a:gd name="adj" fmla="val 5714"/>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0"/>
          <p:cNvSpPr/>
          <p:nvPr/>
        </p:nvSpPr>
        <p:spPr>
          <a:xfrm>
            <a:off x="6443320" y="3456432"/>
            <a:ext cx="2069516"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300"/>
              <a:buFont typeface="Montserrat"/>
              <a:buNone/>
            </a:pPr>
            <a:r>
              <a:rPr lang="en-US" sz="1300" b="1">
                <a:solidFill>
                  <a:srgbClr val="1B1838"/>
                </a:solidFill>
                <a:latin typeface="Montserrat"/>
                <a:ea typeface="Montserrat"/>
                <a:cs typeface="Montserrat"/>
                <a:sym typeface="Montserrat"/>
              </a:rPr>
              <a:t>Scaling milestone</a:t>
            </a:r>
            <a:endParaRPr sz="1300">
              <a:solidFill>
                <a:schemeClr val="dk1"/>
              </a:solidFill>
              <a:latin typeface="Calibri"/>
              <a:ea typeface="Calibri"/>
              <a:cs typeface="Calibri"/>
              <a:sym typeface="Calibri"/>
            </a:endParaRPr>
          </a:p>
        </p:txBody>
      </p:sp>
      <p:sp>
        <p:nvSpPr>
          <p:cNvPr id="216" name="Google Shape;216;p10"/>
          <p:cNvSpPr/>
          <p:nvPr/>
        </p:nvSpPr>
        <p:spPr>
          <a:xfrm>
            <a:off x="6461608" y="4005072"/>
            <a:ext cx="2032940" cy="10789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050"/>
              <a:buFont typeface="Calibri"/>
              <a:buNone/>
            </a:pPr>
            <a:endParaRPr lang="en-US" sz="1200" b="1" dirty="0"/>
          </a:p>
          <a:p>
            <a:pPr marL="0" marR="0" lvl="0" indent="0" algn="ctr" rtl="0">
              <a:spcBef>
                <a:spcPts val="0"/>
              </a:spcBef>
              <a:spcAft>
                <a:spcPts val="0"/>
              </a:spcAft>
              <a:buClr>
                <a:srgbClr val="55586F"/>
              </a:buClr>
              <a:buSzPts val="1050"/>
              <a:buFont typeface="Calibri"/>
              <a:buNone/>
            </a:pPr>
            <a:r>
              <a:rPr lang="en-US" sz="1200" b="1" dirty="0"/>
              <a:t>+2 YEARS (Scaling Milestone):</a:t>
            </a:r>
            <a:r>
              <a:rPr lang="en-US" sz="1200" dirty="0"/>
              <a:t> Pan-India adoption of the offline AI Aptitude and </a:t>
            </a:r>
            <a:r>
              <a:rPr lang="en-US" sz="1200" dirty="0" err="1"/>
              <a:t>Sanjeevani</a:t>
            </a:r>
            <a:r>
              <a:rPr lang="en-US" sz="1200" dirty="0"/>
              <a:t> portals. Achieving 10+ million active users relying on localized, on-device AI processing without high-speed internet.</a:t>
            </a:r>
            <a:endParaRPr sz="1050" dirty="0">
              <a:solidFill>
                <a:schemeClr val="dk1"/>
              </a:solidFill>
              <a:latin typeface="Calibri"/>
              <a:ea typeface="Calibri"/>
              <a:cs typeface="Calibri"/>
              <a:sym typeface="Calibri"/>
            </a:endParaRPr>
          </a:p>
        </p:txBody>
      </p:sp>
      <p:pic>
        <p:nvPicPr>
          <p:cNvPr id="217" name="Google Shape;217;p10" descr="preencoded.png"/>
          <p:cNvPicPr preferRelativeResize="0"/>
          <p:nvPr/>
        </p:nvPicPr>
        <p:blipFill rotWithShape="1">
          <a:blip r:embed="rId4">
            <a:alphaModFix/>
          </a:blip>
          <a:srcRect/>
          <a:stretch/>
        </p:blipFill>
        <p:spPr>
          <a:xfrm>
            <a:off x="9940785" y="2194560"/>
            <a:ext cx="603504" cy="603504"/>
          </a:xfrm>
          <a:prstGeom prst="rect">
            <a:avLst/>
          </a:prstGeom>
          <a:noFill/>
          <a:ln>
            <a:noFill/>
          </a:ln>
        </p:spPr>
      </p:pic>
      <p:sp>
        <p:nvSpPr>
          <p:cNvPr id="218" name="Google Shape;218;p10"/>
          <p:cNvSpPr/>
          <p:nvPr/>
        </p:nvSpPr>
        <p:spPr>
          <a:xfrm>
            <a:off x="9940785" y="2194560"/>
            <a:ext cx="603504"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Montserrat"/>
              <a:buNone/>
            </a:pPr>
            <a:r>
              <a:rPr lang="en-US" sz="2200" b="1">
                <a:solidFill>
                  <a:srgbClr val="FFFFFF"/>
                </a:solidFill>
                <a:latin typeface="Montserrat"/>
                <a:ea typeface="Montserrat"/>
                <a:cs typeface="Montserrat"/>
                <a:sym typeface="Montserrat"/>
              </a:rPr>
              <a:t>4</a:t>
            </a:r>
            <a:endParaRPr sz="2200">
              <a:solidFill>
                <a:schemeClr val="dk1"/>
              </a:solidFill>
              <a:latin typeface="Calibri"/>
              <a:ea typeface="Calibri"/>
              <a:cs typeface="Calibri"/>
              <a:sym typeface="Calibri"/>
            </a:endParaRPr>
          </a:p>
        </p:txBody>
      </p:sp>
      <p:sp>
        <p:nvSpPr>
          <p:cNvPr id="219" name="Google Shape;219;p10"/>
          <p:cNvSpPr/>
          <p:nvPr/>
        </p:nvSpPr>
        <p:spPr>
          <a:xfrm>
            <a:off x="8860307" y="2889504"/>
            <a:ext cx="27644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8186B"/>
              </a:buClr>
              <a:buSzPts val="1200"/>
              <a:buFont typeface="Montserrat"/>
              <a:buNone/>
            </a:pPr>
            <a:r>
              <a:rPr lang="en-US" sz="1200" b="1">
                <a:solidFill>
                  <a:srgbClr val="C8186B"/>
                </a:solidFill>
                <a:latin typeface="Montserrat"/>
                <a:ea typeface="Montserrat"/>
                <a:cs typeface="Montserrat"/>
                <a:sym typeface="Montserrat"/>
              </a:rPr>
              <a:t>+5 YEARS</a:t>
            </a:r>
            <a:endParaRPr sz="1200">
              <a:solidFill>
                <a:schemeClr val="dk1"/>
              </a:solidFill>
              <a:latin typeface="Calibri"/>
              <a:ea typeface="Calibri"/>
              <a:cs typeface="Calibri"/>
              <a:sym typeface="Calibri"/>
            </a:endParaRPr>
          </a:p>
        </p:txBody>
      </p:sp>
      <p:sp>
        <p:nvSpPr>
          <p:cNvPr id="220" name="Google Shape;220;p10"/>
          <p:cNvSpPr/>
          <p:nvPr/>
        </p:nvSpPr>
        <p:spPr>
          <a:xfrm>
            <a:off x="9024899" y="3255264"/>
            <a:ext cx="2435276" cy="2578608"/>
          </a:xfrm>
          <a:prstGeom prst="roundRect">
            <a:avLst>
              <a:gd name="adj" fmla="val 5714"/>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0"/>
          <p:cNvSpPr/>
          <p:nvPr/>
        </p:nvSpPr>
        <p:spPr>
          <a:xfrm>
            <a:off x="9207779" y="3456432"/>
            <a:ext cx="2069516"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300"/>
              <a:buFont typeface="Montserrat"/>
              <a:buNone/>
            </a:pPr>
            <a:r>
              <a:rPr lang="en-US" sz="1300" b="1">
                <a:solidFill>
                  <a:srgbClr val="1B1838"/>
                </a:solidFill>
                <a:latin typeface="Montserrat"/>
                <a:ea typeface="Montserrat"/>
                <a:cs typeface="Montserrat"/>
                <a:sym typeface="Montserrat"/>
              </a:rPr>
              <a:t>Expansion milestone</a:t>
            </a:r>
            <a:endParaRPr sz="1300">
              <a:solidFill>
                <a:schemeClr val="dk1"/>
              </a:solidFill>
              <a:latin typeface="Calibri"/>
              <a:ea typeface="Calibri"/>
              <a:cs typeface="Calibri"/>
              <a:sym typeface="Calibri"/>
            </a:endParaRPr>
          </a:p>
        </p:txBody>
      </p:sp>
      <p:sp>
        <p:nvSpPr>
          <p:cNvPr id="222" name="Google Shape;222;p10"/>
          <p:cNvSpPr/>
          <p:nvPr/>
        </p:nvSpPr>
        <p:spPr>
          <a:xfrm>
            <a:off x="9226067" y="4005072"/>
            <a:ext cx="2032940" cy="10789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5586F"/>
              </a:buClr>
              <a:buSzPts val="1050"/>
              <a:buFont typeface="Calibri"/>
              <a:buNone/>
            </a:pPr>
            <a:r>
              <a:rPr lang="en-US" sz="1200" b="1" dirty="0"/>
              <a:t>+5 YEARS (Expansion Milestone):</a:t>
            </a:r>
            <a:r>
              <a:rPr lang="en-US" sz="1200" dirty="0"/>
              <a:t> "Project </a:t>
            </a:r>
            <a:r>
              <a:rPr lang="en-US" sz="1200" dirty="0" err="1"/>
              <a:t>Aatma</a:t>
            </a:r>
            <a:r>
              <a:rPr lang="en-US" sz="1200" dirty="0"/>
              <a:t>" (Digital Twin technology) and full realization of the "Digital Nalanda"—transitioning India into a global exporter of culturally-rooted, deep-tech AI solutions.</a:t>
            </a:r>
            <a:endParaRPr sz="1050" dirty="0">
              <a:solidFill>
                <a:schemeClr val="dk1"/>
              </a:solidFill>
              <a:latin typeface="Calibri"/>
              <a:ea typeface="Calibri"/>
              <a:cs typeface="Calibri"/>
              <a:sym typeface="Calibri"/>
            </a:endParaRPr>
          </a:p>
        </p:txBody>
      </p:sp>
      <p:sp>
        <p:nvSpPr>
          <p:cNvPr id="223" name="Google Shape;223;p10"/>
          <p:cNvSpPr/>
          <p:nvPr/>
        </p:nvSpPr>
        <p:spPr>
          <a:xfrm>
            <a:off x="566928" y="6199632"/>
            <a:ext cx="11057839" cy="475488"/>
          </a:xfrm>
          <a:prstGeom prst="roundRect">
            <a:avLst>
              <a:gd name="adj" fmla="val 19231"/>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4" name="Google Shape;224;p10" descr="preencoded.png"/>
          <p:cNvPicPr preferRelativeResize="0"/>
          <p:nvPr/>
        </p:nvPicPr>
        <p:blipFill rotWithShape="1">
          <a:blip r:embed="rId5">
            <a:alphaModFix/>
          </a:blip>
          <a:srcRect/>
          <a:stretch/>
        </p:blipFill>
        <p:spPr>
          <a:xfrm>
            <a:off x="694944" y="6281928"/>
            <a:ext cx="310896" cy="310896"/>
          </a:xfrm>
          <a:prstGeom prst="rect">
            <a:avLst/>
          </a:prstGeom>
          <a:noFill/>
          <a:ln>
            <a:noFill/>
          </a:ln>
        </p:spPr>
      </p:pic>
      <p:pic>
        <p:nvPicPr>
          <p:cNvPr id="225" name="Google Shape;225;p10" descr="preencoded.png"/>
          <p:cNvPicPr preferRelativeResize="0"/>
          <p:nvPr/>
        </p:nvPicPr>
        <p:blipFill rotWithShape="1">
          <a:blip r:embed="rId6">
            <a:alphaModFix/>
          </a:blip>
          <a:srcRect/>
          <a:stretch/>
        </p:blipFill>
        <p:spPr>
          <a:xfrm>
            <a:off x="763524" y="6350508"/>
            <a:ext cx="173736" cy="173736"/>
          </a:xfrm>
          <a:prstGeom prst="rect">
            <a:avLst/>
          </a:prstGeom>
          <a:noFill/>
          <a:ln>
            <a:noFill/>
          </a:ln>
        </p:spPr>
      </p:pic>
      <p:sp>
        <p:nvSpPr>
          <p:cNvPr id="226" name="Google Shape;226;p10"/>
          <p:cNvSpPr/>
          <p:nvPr/>
        </p:nvSpPr>
        <p:spPr>
          <a:xfrm>
            <a:off x="1133856" y="6199632"/>
            <a:ext cx="10326319"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86F"/>
              </a:buClr>
              <a:buSzPts val="1050"/>
              <a:buFont typeface="Calibri"/>
              <a:buNone/>
            </a:pPr>
            <a:r>
              <a:rPr lang="en-US" sz="1050" i="1" dirty="0">
                <a:solidFill>
                  <a:srgbClr val="55586F"/>
                </a:solidFill>
                <a:latin typeface="Calibri"/>
                <a:ea typeface="Calibri"/>
                <a:cs typeface="Calibri"/>
                <a:sym typeface="Calibri"/>
              </a:rPr>
              <a:t>Phrase each milestone relative to where you are today</a:t>
            </a:r>
            <a:endParaRPr sz="1050" dirty="0">
              <a:solidFill>
                <a:schemeClr val="dk1"/>
              </a:solidFill>
              <a:latin typeface="Calibri"/>
              <a:ea typeface="Calibri"/>
              <a:cs typeface="Calibri"/>
              <a:sym typeface="Calibri"/>
            </a:endParaRPr>
          </a:p>
        </p:txBody>
      </p:sp>
      <p:sp>
        <p:nvSpPr>
          <p:cNvPr id="227" name="Google Shape;227;p10"/>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228" name="Google Shape;228;p10"/>
          <p:cNvPicPr preferRelativeResize="0"/>
          <p:nvPr/>
        </p:nvPicPr>
        <p:blipFill rotWithShape="1">
          <a:blip r:embed="rId7">
            <a:alphaModFix/>
          </a:blip>
          <a:srcRect r="55655"/>
          <a:stretch/>
        </p:blipFill>
        <p:spPr>
          <a:xfrm>
            <a:off x="566928" y="302768"/>
            <a:ext cx="323705" cy="3149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pic>
        <p:nvPicPr>
          <p:cNvPr id="234" name="Google Shape;234;p11"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235" name="Google Shape;235;p11"/>
          <p:cNvSpPr/>
          <p:nvPr/>
        </p:nvSpPr>
        <p:spPr>
          <a:xfrm>
            <a:off x="841248" y="1024128"/>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Key Risks &amp; Mitigation</a:t>
            </a:r>
            <a:endParaRPr sz="2700">
              <a:solidFill>
                <a:schemeClr val="dk1"/>
              </a:solidFill>
              <a:latin typeface="Calibri"/>
              <a:ea typeface="Calibri"/>
              <a:cs typeface="Calibri"/>
              <a:sym typeface="Calibri"/>
            </a:endParaRPr>
          </a:p>
        </p:txBody>
      </p:sp>
      <p:sp>
        <p:nvSpPr>
          <p:cNvPr id="236" name="Google Shape;236;p11"/>
          <p:cNvSpPr/>
          <p:nvPr/>
        </p:nvSpPr>
        <p:spPr>
          <a:xfrm>
            <a:off x="566928" y="1965960"/>
            <a:ext cx="11057839" cy="1097280"/>
          </a:xfrm>
          <a:prstGeom prst="roundRect">
            <a:avLst>
              <a:gd name="adj" fmla="val 10000"/>
            </a:avLst>
          </a:prstGeom>
          <a:solidFill>
            <a:srgbClr val="FFFFFF"/>
          </a:solidFill>
          <a:ln w="12700" cap="flat" cmpd="sng">
            <a:solidFill>
              <a:srgbClr val="E5E4F1"/>
            </a:solidFill>
            <a:prstDash val="solid"/>
            <a:round/>
            <a:headEnd type="none" w="sm" len="sm"/>
            <a:tailEnd type="none" w="sm" len="sm"/>
          </a:ln>
          <a:effectLst>
            <a:outerShdw blurRad="76200" dist="25400" dir="5400000" algn="bl" rotWithShape="0">
              <a:srgbClr val="1B1838">
                <a:alpha val="705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7" name="Google Shape;237;p11" descr="preencoded.png"/>
          <p:cNvPicPr preferRelativeResize="0"/>
          <p:nvPr/>
        </p:nvPicPr>
        <p:blipFill rotWithShape="1">
          <a:blip r:embed="rId4">
            <a:alphaModFix/>
          </a:blip>
          <a:srcRect/>
          <a:stretch/>
        </p:blipFill>
        <p:spPr>
          <a:xfrm>
            <a:off x="841248" y="2258568"/>
            <a:ext cx="512064" cy="512064"/>
          </a:xfrm>
          <a:prstGeom prst="rect">
            <a:avLst/>
          </a:prstGeom>
          <a:noFill/>
          <a:ln>
            <a:noFill/>
          </a:ln>
        </p:spPr>
      </p:pic>
      <p:pic>
        <p:nvPicPr>
          <p:cNvPr id="238" name="Google Shape;238;p11" descr="preencoded.png"/>
          <p:cNvPicPr preferRelativeResize="0"/>
          <p:nvPr/>
        </p:nvPicPr>
        <p:blipFill rotWithShape="1">
          <a:blip r:embed="rId5">
            <a:alphaModFix/>
          </a:blip>
          <a:srcRect/>
          <a:stretch/>
        </p:blipFill>
        <p:spPr>
          <a:xfrm>
            <a:off x="994867" y="2412187"/>
            <a:ext cx="204826" cy="204826"/>
          </a:xfrm>
          <a:prstGeom prst="rect">
            <a:avLst/>
          </a:prstGeom>
          <a:noFill/>
          <a:ln>
            <a:noFill/>
          </a:ln>
        </p:spPr>
      </p:pic>
      <p:sp>
        <p:nvSpPr>
          <p:cNvPr id="239" name="Google Shape;239;p11"/>
          <p:cNvSpPr/>
          <p:nvPr/>
        </p:nvSpPr>
        <p:spPr>
          <a:xfrm>
            <a:off x="1527048" y="2167128"/>
            <a:ext cx="43891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00"/>
              <a:buFont typeface="Montserrat"/>
              <a:buNone/>
            </a:pPr>
            <a:r>
              <a:rPr lang="en-US" sz="1000" b="1">
                <a:solidFill>
                  <a:srgbClr val="C8186B"/>
                </a:solidFill>
                <a:latin typeface="Montserrat"/>
                <a:ea typeface="Montserrat"/>
                <a:cs typeface="Montserrat"/>
                <a:sym typeface="Montserrat"/>
              </a:rPr>
              <a:t>RISK 1</a:t>
            </a:r>
            <a:endParaRPr sz="1000">
              <a:solidFill>
                <a:schemeClr val="dk1"/>
              </a:solidFill>
              <a:latin typeface="Calibri"/>
              <a:ea typeface="Calibri"/>
              <a:cs typeface="Calibri"/>
              <a:sym typeface="Calibri"/>
            </a:endParaRPr>
          </a:p>
        </p:txBody>
      </p:sp>
      <p:sp>
        <p:nvSpPr>
          <p:cNvPr id="240" name="Google Shape;240;p11"/>
          <p:cNvSpPr/>
          <p:nvPr/>
        </p:nvSpPr>
        <p:spPr>
          <a:xfrm>
            <a:off x="1527048" y="2423160"/>
            <a:ext cx="47548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1838"/>
              </a:buClr>
              <a:buSzPts val="1150"/>
              <a:buFont typeface="Calibri"/>
              <a:buNone/>
            </a:pPr>
            <a:r>
              <a:rPr lang="en-US" sz="1600" dirty="0"/>
              <a:t>Scalability and cost of hardware manufacturing in India compared to global hubs (like China)</a:t>
            </a:r>
            <a:endParaRPr sz="1150" dirty="0">
              <a:solidFill>
                <a:schemeClr val="dk1"/>
              </a:solidFill>
              <a:latin typeface="Calibri"/>
              <a:ea typeface="Calibri"/>
              <a:cs typeface="Calibri"/>
              <a:sym typeface="Calibri"/>
            </a:endParaRPr>
          </a:p>
        </p:txBody>
      </p:sp>
      <p:cxnSp>
        <p:nvCxnSpPr>
          <p:cNvPr id="241" name="Google Shape;241;p11"/>
          <p:cNvCxnSpPr/>
          <p:nvPr/>
        </p:nvCxnSpPr>
        <p:spPr>
          <a:xfrm>
            <a:off x="6556248" y="2167128"/>
            <a:ext cx="0" cy="694944"/>
          </a:xfrm>
          <a:prstGeom prst="straightConnector1">
            <a:avLst/>
          </a:prstGeom>
          <a:noFill/>
          <a:ln w="12700" cap="flat" cmpd="sng">
            <a:solidFill>
              <a:srgbClr val="E5E4F1"/>
            </a:solidFill>
            <a:prstDash val="solid"/>
            <a:round/>
            <a:headEnd type="none" w="sm" len="sm"/>
            <a:tailEnd type="none" w="sm" len="sm"/>
          </a:ln>
        </p:spPr>
      </p:cxnSp>
      <p:pic>
        <p:nvPicPr>
          <p:cNvPr id="242" name="Google Shape;242;p11" descr="preencoded.png"/>
          <p:cNvPicPr preferRelativeResize="0"/>
          <p:nvPr/>
        </p:nvPicPr>
        <p:blipFill rotWithShape="1">
          <a:blip r:embed="rId6">
            <a:alphaModFix/>
          </a:blip>
          <a:srcRect/>
          <a:stretch/>
        </p:blipFill>
        <p:spPr>
          <a:xfrm>
            <a:off x="6812280" y="2286000"/>
            <a:ext cx="457200" cy="457200"/>
          </a:xfrm>
          <a:prstGeom prst="rect">
            <a:avLst/>
          </a:prstGeom>
          <a:noFill/>
          <a:ln>
            <a:noFill/>
          </a:ln>
        </p:spPr>
      </p:pic>
      <p:pic>
        <p:nvPicPr>
          <p:cNvPr id="243" name="Google Shape;243;p11" descr="preencoded.png"/>
          <p:cNvPicPr preferRelativeResize="0"/>
          <p:nvPr/>
        </p:nvPicPr>
        <p:blipFill rotWithShape="1">
          <a:blip r:embed="rId7">
            <a:alphaModFix/>
          </a:blip>
          <a:srcRect/>
          <a:stretch/>
        </p:blipFill>
        <p:spPr>
          <a:xfrm>
            <a:off x="6949440" y="2423160"/>
            <a:ext cx="182880" cy="182880"/>
          </a:xfrm>
          <a:prstGeom prst="rect">
            <a:avLst/>
          </a:prstGeom>
          <a:noFill/>
          <a:ln>
            <a:noFill/>
          </a:ln>
        </p:spPr>
      </p:pic>
      <p:sp>
        <p:nvSpPr>
          <p:cNvPr id="244" name="Google Shape;244;p11"/>
          <p:cNvSpPr/>
          <p:nvPr/>
        </p:nvSpPr>
        <p:spPr>
          <a:xfrm>
            <a:off x="7397496" y="2167128"/>
            <a:ext cx="43891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A23BE"/>
              </a:buClr>
              <a:buSzPts val="1000"/>
              <a:buFont typeface="Montserrat"/>
              <a:buNone/>
            </a:pPr>
            <a:r>
              <a:rPr lang="en-US" sz="1000" b="1">
                <a:solidFill>
                  <a:srgbClr val="7A23BE"/>
                </a:solidFill>
                <a:latin typeface="Montserrat"/>
                <a:ea typeface="Montserrat"/>
                <a:cs typeface="Montserrat"/>
                <a:sym typeface="Montserrat"/>
              </a:rPr>
              <a:t>HOW WE'LL TACKLE IT</a:t>
            </a:r>
            <a:endParaRPr sz="1000">
              <a:solidFill>
                <a:schemeClr val="dk1"/>
              </a:solidFill>
              <a:latin typeface="Calibri"/>
              <a:ea typeface="Calibri"/>
              <a:cs typeface="Calibri"/>
              <a:sym typeface="Calibri"/>
            </a:endParaRPr>
          </a:p>
        </p:txBody>
      </p:sp>
      <p:sp>
        <p:nvSpPr>
          <p:cNvPr id="245" name="Google Shape;245;p11"/>
          <p:cNvSpPr/>
          <p:nvPr/>
        </p:nvSpPr>
        <p:spPr>
          <a:xfrm>
            <a:off x="7397496" y="2423160"/>
            <a:ext cx="4227271"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586F"/>
              </a:buClr>
              <a:buSzPts val="1150"/>
              <a:buFont typeface="Calibri"/>
              <a:buNone/>
            </a:pPr>
            <a:r>
              <a:rPr lang="en-US" sz="1200" dirty="0"/>
              <a:t>Bypassing new manufacturing by pioneering an e-waste refurbishing model—extracting CPUs/RAM from old phones to build high-power, low-cost educational devices.</a:t>
            </a:r>
            <a:endParaRPr sz="1200" dirty="0">
              <a:solidFill>
                <a:schemeClr val="dk1"/>
              </a:solidFill>
              <a:latin typeface="Calibri"/>
              <a:ea typeface="Calibri"/>
              <a:cs typeface="Calibri"/>
              <a:sym typeface="Calibri"/>
            </a:endParaRPr>
          </a:p>
        </p:txBody>
      </p:sp>
      <p:sp>
        <p:nvSpPr>
          <p:cNvPr id="246" name="Google Shape;246;p11"/>
          <p:cNvSpPr/>
          <p:nvPr/>
        </p:nvSpPr>
        <p:spPr>
          <a:xfrm>
            <a:off x="566928" y="3264408"/>
            <a:ext cx="11057839" cy="1097280"/>
          </a:xfrm>
          <a:prstGeom prst="roundRect">
            <a:avLst>
              <a:gd name="adj" fmla="val 10000"/>
            </a:avLst>
          </a:prstGeom>
          <a:solidFill>
            <a:srgbClr val="FFFFFF"/>
          </a:solidFill>
          <a:ln w="12700" cap="flat" cmpd="sng">
            <a:solidFill>
              <a:srgbClr val="E5E4F1"/>
            </a:solidFill>
            <a:prstDash val="solid"/>
            <a:round/>
            <a:headEnd type="none" w="sm" len="sm"/>
            <a:tailEnd type="none" w="sm" len="sm"/>
          </a:ln>
          <a:effectLst>
            <a:outerShdw blurRad="76200" dist="25400" dir="5400000" algn="bl" rotWithShape="0">
              <a:srgbClr val="1B1838">
                <a:alpha val="705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7" name="Google Shape;247;p11" descr="preencoded.png"/>
          <p:cNvPicPr preferRelativeResize="0"/>
          <p:nvPr/>
        </p:nvPicPr>
        <p:blipFill rotWithShape="1">
          <a:blip r:embed="rId4">
            <a:alphaModFix/>
          </a:blip>
          <a:srcRect/>
          <a:stretch/>
        </p:blipFill>
        <p:spPr>
          <a:xfrm>
            <a:off x="841248" y="3557016"/>
            <a:ext cx="512064" cy="512064"/>
          </a:xfrm>
          <a:prstGeom prst="rect">
            <a:avLst/>
          </a:prstGeom>
          <a:noFill/>
          <a:ln>
            <a:noFill/>
          </a:ln>
        </p:spPr>
      </p:pic>
      <p:pic>
        <p:nvPicPr>
          <p:cNvPr id="248" name="Google Shape;248;p11" descr="preencoded.png"/>
          <p:cNvPicPr preferRelativeResize="0"/>
          <p:nvPr/>
        </p:nvPicPr>
        <p:blipFill rotWithShape="1">
          <a:blip r:embed="rId5">
            <a:alphaModFix/>
          </a:blip>
          <a:srcRect/>
          <a:stretch/>
        </p:blipFill>
        <p:spPr>
          <a:xfrm>
            <a:off x="994867" y="3710635"/>
            <a:ext cx="204826" cy="204826"/>
          </a:xfrm>
          <a:prstGeom prst="rect">
            <a:avLst/>
          </a:prstGeom>
          <a:noFill/>
          <a:ln>
            <a:noFill/>
          </a:ln>
        </p:spPr>
      </p:pic>
      <p:sp>
        <p:nvSpPr>
          <p:cNvPr id="249" name="Google Shape;249;p11"/>
          <p:cNvSpPr/>
          <p:nvPr/>
        </p:nvSpPr>
        <p:spPr>
          <a:xfrm>
            <a:off x="1527048" y="3465576"/>
            <a:ext cx="43891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00"/>
              <a:buFont typeface="Montserrat"/>
              <a:buNone/>
            </a:pPr>
            <a:r>
              <a:rPr lang="en-US" sz="1000" b="1">
                <a:solidFill>
                  <a:srgbClr val="C8186B"/>
                </a:solidFill>
                <a:latin typeface="Montserrat"/>
                <a:ea typeface="Montserrat"/>
                <a:cs typeface="Montserrat"/>
                <a:sym typeface="Montserrat"/>
              </a:rPr>
              <a:t>RISK 2</a:t>
            </a:r>
            <a:endParaRPr sz="1000">
              <a:solidFill>
                <a:schemeClr val="dk1"/>
              </a:solidFill>
              <a:latin typeface="Calibri"/>
              <a:ea typeface="Calibri"/>
              <a:cs typeface="Calibri"/>
              <a:sym typeface="Calibri"/>
            </a:endParaRPr>
          </a:p>
        </p:txBody>
      </p:sp>
      <p:sp>
        <p:nvSpPr>
          <p:cNvPr id="250" name="Google Shape;250;p11"/>
          <p:cNvSpPr/>
          <p:nvPr/>
        </p:nvSpPr>
        <p:spPr>
          <a:xfrm>
            <a:off x="1527048" y="3721608"/>
            <a:ext cx="47548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1838"/>
              </a:buClr>
              <a:buSzPts val="1150"/>
              <a:buFont typeface="Calibri"/>
              <a:buNone/>
            </a:pPr>
            <a:r>
              <a:rPr lang="en-US" sz="1600" dirty="0"/>
              <a:t>Hesitancy among rural populations to adopt advanced, unfamiliar AI tech.</a:t>
            </a:r>
            <a:endParaRPr sz="1150" dirty="0">
              <a:solidFill>
                <a:schemeClr val="dk1"/>
              </a:solidFill>
              <a:latin typeface="Calibri"/>
              <a:ea typeface="Calibri"/>
              <a:cs typeface="Calibri"/>
              <a:sym typeface="Calibri"/>
            </a:endParaRPr>
          </a:p>
        </p:txBody>
      </p:sp>
      <p:cxnSp>
        <p:nvCxnSpPr>
          <p:cNvPr id="251" name="Google Shape;251;p11"/>
          <p:cNvCxnSpPr/>
          <p:nvPr/>
        </p:nvCxnSpPr>
        <p:spPr>
          <a:xfrm>
            <a:off x="6556248" y="3465576"/>
            <a:ext cx="0" cy="694944"/>
          </a:xfrm>
          <a:prstGeom prst="straightConnector1">
            <a:avLst/>
          </a:prstGeom>
          <a:noFill/>
          <a:ln w="12700" cap="flat" cmpd="sng">
            <a:solidFill>
              <a:srgbClr val="E5E4F1"/>
            </a:solidFill>
            <a:prstDash val="solid"/>
            <a:round/>
            <a:headEnd type="none" w="sm" len="sm"/>
            <a:tailEnd type="none" w="sm" len="sm"/>
          </a:ln>
        </p:spPr>
      </p:cxnSp>
      <p:pic>
        <p:nvPicPr>
          <p:cNvPr id="252" name="Google Shape;252;p11" descr="preencoded.png"/>
          <p:cNvPicPr preferRelativeResize="0"/>
          <p:nvPr/>
        </p:nvPicPr>
        <p:blipFill rotWithShape="1">
          <a:blip r:embed="rId6">
            <a:alphaModFix/>
          </a:blip>
          <a:srcRect/>
          <a:stretch/>
        </p:blipFill>
        <p:spPr>
          <a:xfrm>
            <a:off x="6812280" y="3584448"/>
            <a:ext cx="457200" cy="457200"/>
          </a:xfrm>
          <a:prstGeom prst="rect">
            <a:avLst/>
          </a:prstGeom>
          <a:noFill/>
          <a:ln>
            <a:noFill/>
          </a:ln>
        </p:spPr>
      </p:pic>
      <p:pic>
        <p:nvPicPr>
          <p:cNvPr id="253" name="Google Shape;253;p11" descr="preencoded.png"/>
          <p:cNvPicPr preferRelativeResize="0"/>
          <p:nvPr/>
        </p:nvPicPr>
        <p:blipFill rotWithShape="1">
          <a:blip r:embed="rId7">
            <a:alphaModFix/>
          </a:blip>
          <a:srcRect/>
          <a:stretch/>
        </p:blipFill>
        <p:spPr>
          <a:xfrm>
            <a:off x="6949440" y="3721608"/>
            <a:ext cx="182880" cy="182880"/>
          </a:xfrm>
          <a:prstGeom prst="rect">
            <a:avLst/>
          </a:prstGeom>
          <a:noFill/>
          <a:ln>
            <a:noFill/>
          </a:ln>
        </p:spPr>
      </p:pic>
      <p:sp>
        <p:nvSpPr>
          <p:cNvPr id="254" name="Google Shape;254;p11"/>
          <p:cNvSpPr/>
          <p:nvPr/>
        </p:nvSpPr>
        <p:spPr>
          <a:xfrm>
            <a:off x="7397496" y="3465576"/>
            <a:ext cx="43891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A23BE"/>
              </a:buClr>
              <a:buSzPts val="1000"/>
              <a:buFont typeface="Montserrat"/>
              <a:buNone/>
            </a:pPr>
            <a:r>
              <a:rPr lang="en-US" sz="1000" b="1">
                <a:solidFill>
                  <a:srgbClr val="7A23BE"/>
                </a:solidFill>
                <a:latin typeface="Montserrat"/>
                <a:ea typeface="Montserrat"/>
                <a:cs typeface="Montserrat"/>
                <a:sym typeface="Montserrat"/>
              </a:rPr>
              <a:t>HOW WE'LL TACKLE IT</a:t>
            </a:r>
            <a:endParaRPr sz="1000">
              <a:solidFill>
                <a:schemeClr val="dk1"/>
              </a:solidFill>
              <a:latin typeface="Calibri"/>
              <a:ea typeface="Calibri"/>
              <a:cs typeface="Calibri"/>
              <a:sym typeface="Calibri"/>
            </a:endParaRPr>
          </a:p>
        </p:txBody>
      </p:sp>
      <p:sp>
        <p:nvSpPr>
          <p:cNvPr id="255" name="Google Shape;255;p11"/>
          <p:cNvSpPr/>
          <p:nvPr/>
        </p:nvSpPr>
        <p:spPr>
          <a:xfrm>
            <a:off x="7397496" y="3721608"/>
            <a:ext cx="4227271"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586F"/>
              </a:buClr>
              <a:buSzPts val="1150"/>
              <a:buFont typeface="Calibri"/>
              <a:buNone/>
            </a:pPr>
            <a:r>
              <a:rPr lang="en-US" dirty="0"/>
              <a:t>Packaging AI in highly familiar, culturally resonant formats (e.g., native language voice bots, Ayurvedic coaches, and Vedic interfaces).</a:t>
            </a:r>
            <a:endParaRPr dirty="0">
              <a:solidFill>
                <a:schemeClr val="dk1"/>
              </a:solidFill>
              <a:latin typeface="Calibri"/>
              <a:ea typeface="Calibri"/>
              <a:cs typeface="Calibri"/>
              <a:sym typeface="Calibri"/>
            </a:endParaRPr>
          </a:p>
        </p:txBody>
      </p:sp>
      <p:sp>
        <p:nvSpPr>
          <p:cNvPr id="256" name="Google Shape;256;p11"/>
          <p:cNvSpPr/>
          <p:nvPr/>
        </p:nvSpPr>
        <p:spPr>
          <a:xfrm>
            <a:off x="566928" y="4562856"/>
            <a:ext cx="11057839" cy="1097280"/>
          </a:xfrm>
          <a:prstGeom prst="roundRect">
            <a:avLst>
              <a:gd name="adj" fmla="val 10000"/>
            </a:avLst>
          </a:prstGeom>
          <a:solidFill>
            <a:srgbClr val="FFFFFF"/>
          </a:solidFill>
          <a:ln w="12700" cap="flat" cmpd="sng">
            <a:solidFill>
              <a:srgbClr val="E5E4F1"/>
            </a:solidFill>
            <a:prstDash val="solid"/>
            <a:round/>
            <a:headEnd type="none" w="sm" len="sm"/>
            <a:tailEnd type="none" w="sm" len="sm"/>
          </a:ln>
          <a:effectLst>
            <a:outerShdw blurRad="76200" dist="25400" dir="5400000" algn="bl" rotWithShape="0">
              <a:srgbClr val="1B1838">
                <a:alpha val="705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7" name="Google Shape;257;p11" descr="preencoded.png"/>
          <p:cNvPicPr preferRelativeResize="0"/>
          <p:nvPr/>
        </p:nvPicPr>
        <p:blipFill rotWithShape="1">
          <a:blip r:embed="rId4">
            <a:alphaModFix/>
          </a:blip>
          <a:srcRect/>
          <a:stretch/>
        </p:blipFill>
        <p:spPr>
          <a:xfrm>
            <a:off x="841248" y="4855464"/>
            <a:ext cx="512064" cy="512064"/>
          </a:xfrm>
          <a:prstGeom prst="rect">
            <a:avLst/>
          </a:prstGeom>
          <a:noFill/>
          <a:ln>
            <a:noFill/>
          </a:ln>
        </p:spPr>
      </p:pic>
      <p:pic>
        <p:nvPicPr>
          <p:cNvPr id="258" name="Google Shape;258;p11" descr="preencoded.png"/>
          <p:cNvPicPr preferRelativeResize="0"/>
          <p:nvPr/>
        </p:nvPicPr>
        <p:blipFill rotWithShape="1">
          <a:blip r:embed="rId5">
            <a:alphaModFix/>
          </a:blip>
          <a:srcRect/>
          <a:stretch/>
        </p:blipFill>
        <p:spPr>
          <a:xfrm>
            <a:off x="994867" y="5009083"/>
            <a:ext cx="204826" cy="204826"/>
          </a:xfrm>
          <a:prstGeom prst="rect">
            <a:avLst/>
          </a:prstGeom>
          <a:noFill/>
          <a:ln>
            <a:noFill/>
          </a:ln>
        </p:spPr>
      </p:pic>
      <p:sp>
        <p:nvSpPr>
          <p:cNvPr id="259" name="Google Shape;259;p11"/>
          <p:cNvSpPr/>
          <p:nvPr/>
        </p:nvSpPr>
        <p:spPr>
          <a:xfrm>
            <a:off x="1527048" y="4764024"/>
            <a:ext cx="43891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00"/>
              <a:buFont typeface="Montserrat"/>
              <a:buNone/>
            </a:pPr>
            <a:r>
              <a:rPr lang="en-US" sz="1000" b="1">
                <a:solidFill>
                  <a:srgbClr val="C8186B"/>
                </a:solidFill>
                <a:latin typeface="Montserrat"/>
                <a:ea typeface="Montserrat"/>
                <a:cs typeface="Montserrat"/>
                <a:sym typeface="Montserrat"/>
              </a:rPr>
              <a:t>RISK 3</a:t>
            </a:r>
            <a:endParaRPr sz="1000">
              <a:solidFill>
                <a:schemeClr val="dk1"/>
              </a:solidFill>
              <a:latin typeface="Calibri"/>
              <a:ea typeface="Calibri"/>
              <a:cs typeface="Calibri"/>
              <a:sym typeface="Calibri"/>
            </a:endParaRPr>
          </a:p>
        </p:txBody>
      </p:sp>
      <p:sp>
        <p:nvSpPr>
          <p:cNvPr id="260" name="Google Shape;260;p11"/>
          <p:cNvSpPr/>
          <p:nvPr/>
        </p:nvSpPr>
        <p:spPr>
          <a:xfrm>
            <a:off x="1527048" y="5020056"/>
            <a:ext cx="475488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B1838"/>
              </a:buClr>
              <a:buSzPts val="1150"/>
              <a:buFont typeface="Calibri"/>
              <a:buNone/>
            </a:pPr>
            <a:r>
              <a:rPr lang="en-US" sz="1600" dirty="0"/>
              <a:t>Sustaining a "free for the end-user" model at a massive national scale. </a:t>
            </a:r>
            <a:endParaRPr sz="1150" dirty="0">
              <a:solidFill>
                <a:schemeClr val="dk1"/>
              </a:solidFill>
              <a:latin typeface="Calibri"/>
              <a:ea typeface="Calibri"/>
              <a:cs typeface="Calibri"/>
              <a:sym typeface="Calibri"/>
            </a:endParaRPr>
          </a:p>
        </p:txBody>
      </p:sp>
      <p:cxnSp>
        <p:nvCxnSpPr>
          <p:cNvPr id="261" name="Google Shape;261;p11"/>
          <p:cNvCxnSpPr/>
          <p:nvPr/>
        </p:nvCxnSpPr>
        <p:spPr>
          <a:xfrm>
            <a:off x="6556248" y="4764024"/>
            <a:ext cx="0" cy="694944"/>
          </a:xfrm>
          <a:prstGeom prst="straightConnector1">
            <a:avLst/>
          </a:prstGeom>
          <a:noFill/>
          <a:ln w="12700" cap="flat" cmpd="sng">
            <a:solidFill>
              <a:srgbClr val="E5E4F1"/>
            </a:solidFill>
            <a:prstDash val="solid"/>
            <a:round/>
            <a:headEnd type="none" w="sm" len="sm"/>
            <a:tailEnd type="none" w="sm" len="sm"/>
          </a:ln>
        </p:spPr>
      </p:cxnSp>
      <p:pic>
        <p:nvPicPr>
          <p:cNvPr id="262" name="Google Shape;262;p11" descr="preencoded.png"/>
          <p:cNvPicPr preferRelativeResize="0"/>
          <p:nvPr/>
        </p:nvPicPr>
        <p:blipFill rotWithShape="1">
          <a:blip r:embed="rId6">
            <a:alphaModFix/>
          </a:blip>
          <a:srcRect/>
          <a:stretch/>
        </p:blipFill>
        <p:spPr>
          <a:xfrm>
            <a:off x="6812280" y="4882896"/>
            <a:ext cx="457200" cy="457200"/>
          </a:xfrm>
          <a:prstGeom prst="rect">
            <a:avLst/>
          </a:prstGeom>
          <a:noFill/>
          <a:ln>
            <a:noFill/>
          </a:ln>
        </p:spPr>
      </p:pic>
      <p:pic>
        <p:nvPicPr>
          <p:cNvPr id="263" name="Google Shape;263;p11" descr="preencoded.png"/>
          <p:cNvPicPr preferRelativeResize="0"/>
          <p:nvPr/>
        </p:nvPicPr>
        <p:blipFill rotWithShape="1">
          <a:blip r:embed="rId7">
            <a:alphaModFix/>
          </a:blip>
          <a:srcRect/>
          <a:stretch/>
        </p:blipFill>
        <p:spPr>
          <a:xfrm>
            <a:off x="6949440" y="5020056"/>
            <a:ext cx="182880" cy="182880"/>
          </a:xfrm>
          <a:prstGeom prst="rect">
            <a:avLst/>
          </a:prstGeom>
          <a:noFill/>
          <a:ln>
            <a:noFill/>
          </a:ln>
        </p:spPr>
      </p:pic>
      <p:sp>
        <p:nvSpPr>
          <p:cNvPr id="264" name="Google Shape;264;p11"/>
          <p:cNvSpPr/>
          <p:nvPr/>
        </p:nvSpPr>
        <p:spPr>
          <a:xfrm>
            <a:off x="7397496" y="4764024"/>
            <a:ext cx="43891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A23BE"/>
              </a:buClr>
              <a:buSzPts val="1000"/>
              <a:buFont typeface="Montserrat"/>
              <a:buNone/>
            </a:pPr>
            <a:r>
              <a:rPr lang="en-US" sz="1000" b="1">
                <a:solidFill>
                  <a:srgbClr val="7A23BE"/>
                </a:solidFill>
                <a:latin typeface="Montserrat"/>
                <a:ea typeface="Montserrat"/>
                <a:cs typeface="Montserrat"/>
                <a:sym typeface="Montserrat"/>
              </a:rPr>
              <a:t>HOW WE'LL TACKLE IT</a:t>
            </a:r>
            <a:endParaRPr sz="1000">
              <a:solidFill>
                <a:schemeClr val="dk1"/>
              </a:solidFill>
              <a:latin typeface="Calibri"/>
              <a:ea typeface="Calibri"/>
              <a:cs typeface="Calibri"/>
              <a:sym typeface="Calibri"/>
            </a:endParaRPr>
          </a:p>
        </p:txBody>
      </p:sp>
      <p:sp>
        <p:nvSpPr>
          <p:cNvPr id="265" name="Google Shape;265;p11"/>
          <p:cNvSpPr/>
          <p:nvPr/>
        </p:nvSpPr>
        <p:spPr>
          <a:xfrm>
            <a:off x="7397496" y="5020056"/>
            <a:ext cx="4227271"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586F"/>
              </a:buClr>
              <a:buSzPts val="1150"/>
              <a:buFont typeface="Calibri"/>
              <a:buNone/>
            </a:pPr>
            <a:r>
              <a:rPr lang="en-US" sz="1200" dirty="0"/>
              <a:t>Leveraging robust B2G partnerships, CSR funding, and ultra-low server maintenance costs achieved specifically through our offline-first computing architecture.</a:t>
            </a:r>
            <a:endParaRPr sz="1200" dirty="0">
              <a:solidFill>
                <a:schemeClr val="dk1"/>
              </a:solidFill>
              <a:latin typeface="Calibri"/>
              <a:ea typeface="Calibri"/>
              <a:cs typeface="Calibri"/>
              <a:sym typeface="Calibri"/>
            </a:endParaRPr>
          </a:p>
        </p:txBody>
      </p:sp>
      <p:sp>
        <p:nvSpPr>
          <p:cNvPr id="266" name="Google Shape;266;p11"/>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267" name="Google Shape;267;p11"/>
          <p:cNvPicPr preferRelativeResize="0"/>
          <p:nvPr/>
        </p:nvPicPr>
        <p:blipFill rotWithShape="1">
          <a:blip r:embed="rId8">
            <a:alphaModFix/>
          </a:blip>
          <a:srcRect r="55655"/>
          <a:stretch/>
        </p:blipFill>
        <p:spPr>
          <a:xfrm>
            <a:off x="566928" y="302768"/>
            <a:ext cx="323705" cy="3149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2"/>
        <p:cNvGrpSpPr/>
        <p:nvPr/>
      </p:nvGrpSpPr>
      <p:grpSpPr>
        <a:xfrm>
          <a:off x="0" y="0"/>
          <a:ext cx="0" cy="0"/>
          <a:chOff x="0" y="0"/>
          <a:chExt cx="0" cy="0"/>
        </a:xfrm>
      </p:grpSpPr>
      <p:sp>
        <p:nvSpPr>
          <p:cNvPr id="273" name="Google Shape;273;p12"/>
          <p:cNvSpPr/>
          <p:nvPr/>
        </p:nvSpPr>
        <p:spPr>
          <a:xfrm>
            <a:off x="566928" y="2154552"/>
            <a:ext cx="11057839" cy="2452440"/>
          </a:xfrm>
          <a:prstGeom prst="rect">
            <a:avLst/>
          </a:prstGeom>
          <a:noFill/>
          <a:ln w="12700" cap="flat" cmpd="sng">
            <a:solidFill>
              <a:srgbClr val="E5E4F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2"/>
          <p:cNvSpPr/>
          <p:nvPr/>
        </p:nvSpPr>
        <p:spPr>
          <a:xfrm>
            <a:off x="566928" y="2793840"/>
            <a:ext cx="3291840" cy="625224"/>
          </a:xfrm>
          <a:prstGeom prst="rect">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5" name="Google Shape;275;p12"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276" name="Google Shape;276;p12"/>
          <p:cNvSpPr/>
          <p:nvPr/>
        </p:nvSpPr>
        <p:spPr>
          <a:xfrm>
            <a:off x="841248" y="1036704"/>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Competition &amp; Your Advantage</a:t>
            </a:r>
            <a:endParaRPr sz="2700">
              <a:solidFill>
                <a:schemeClr val="dk1"/>
              </a:solidFill>
              <a:latin typeface="Calibri"/>
              <a:ea typeface="Calibri"/>
              <a:cs typeface="Calibri"/>
              <a:sym typeface="Calibri"/>
            </a:endParaRPr>
          </a:p>
        </p:txBody>
      </p:sp>
      <p:pic>
        <p:nvPicPr>
          <p:cNvPr id="277" name="Google Shape;277;p12" descr="preencoded.png"/>
          <p:cNvPicPr preferRelativeResize="0"/>
          <p:nvPr/>
        </p:nvPicPr>
        <p:blipFill rotWithShape="1">
          <a:blip r:embed="rId4">
            <a:alphaModFix/>
          </a:blip>
          <a:srcRect/>
          <a:stretch/>
        </p:blipFill>
        <p:spPr>
          <a:xfrm>
            <a:off x="566928" y="1828800"/>
            <a:ext cx="11057839" cy="457200"/>
          </a:xfrm>
          <a:prstGeom prst="rect">
            <a:avLst/>
          </a:prstGeom>
          <a:noFill/>
          <a:ln>
            <a:noFill/>
          </a:ln>
        </p:spPr>
      </p:pic>
      <p:sp>
        <p:nvSpPr>
          <p:cNvPr id="278" name="Google Shape;278;p12"/>
          <p:cNvSpPr/>
          <p:nvPr/>
        </p:nvSpPr>
        <p:spPr>
          <a:xfrm>
            <a:off x="749808" y="1828800"/>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Montserrat"/>
              <a:buNone/>
            </a:pPr>
            <a:r>
              <a:rPr lang="en-US" sz="1050" b="1">
                <a:solidFill>
                  <a:srgbClr val="FFFFFF"/>
                </a:solidFill>
                <a:latin typeface="Montserrat"/>
                <a:ea typeface="Montserrat"/>
                <a:cs typeface="Montserrat"/>
                <a:sym typeface="Montserrat"/>
              </a:rPr>
              <a:t>Feature / Advantage</a:t>
            </a:r>
            <a:endParaRPr sz="1050">
              <a:solidFill>
                <a:schemeClr val="dk1"/>
              </a:solidFill>
              <a:latin typeface="Calibri"/>
              <a:ea typeface="Calibri"/>
              <a:cs typeface="Calibri"/>
              <a:sym typeface="Calibri"/>
            </a:endParaRPr>
          </a:p>
        </p:txBody>
      </p:sp>
      <p:sp>
        <p:nvSpPr>
          <p:cNvPr id="279" name="Google Shape;279;p12"/>
          <p:cNvSpPr/>
          <p:nvPr/>
        </p:nvSpPr>
        <p:spPr>
          <a:xfrm>
            <a:off x="3858768" y="1828800"/>
            <a:ext cx="1941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50"/>
              <a:buFont typeface="Montserrat"/>
              <a:buNone/>
            </a:pPr>
            <a:r>
              <a:rPr lang="en-US" sz="1150" b="1" dirty="0" err="1">
                <a:solidFill>
                  <a:srgbClr val="FFFFFF"/>
                </a:solidFill>
                <a:latin typeface="Montserrat"/>
                <a:ea typeface="Montserrat"/>
                <a:cs typeface="Montserrat"/>
                <a:sym typeface="Montserrat"/>
              </a:rPr>
              <a:t>Eprashala</a:t>
            </a:r>
            <a:endParaRPr sz="1150" dirty="0">
              <a:solidFill>
                <a:schemeClr val="dk1"/>
              </a:solidFill>
              <a:latin typeface="Calibri"/>
              <a:ea typeface="Calibri"/>
              <a:cs typeface="Calibri"/>
              <a:sym typeface="Calibri"/>
            </a:endParaRPr>
          </a:p>
        </p:txBody>
      </p:sp>
      <p:sp>
        <p:nvSpPr>
          <p:cNvPr id="280" name="Google Shape;280;p12"/>
          <p:cNvSpPr/>
          <p:nvPr/>
        </p:nvSpPr>
        <p:spPr>
          <a:xfrm>
            <a:off x="5800268" y="1828800"/>
            <a:ext cx="1941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Montserrat"/>
              <a:buNone/>
            </a:pPr>
            <a:r>
              <a:rPr lang="en-US" sz="1200" dirty="0"/>
              <a:t>Western AI/EdTech Giants</a:t>
            </a:r>
            <a:endParaRPr sz="1050" dirty="0">
              <a:solidFill>
                <a:schemeClr val="dk1"/>
              </a:solidFill>
              <a:latin typeface="Calibri"/>
              <a:ea typeface="Calibri"/>
              <a:cs typeface="Calibri"/>
              <a:sym typeface="Calibri"/>
            </a:endParaRPr>
          </a:p>
        </p:txBody>
      </p:sp>
      <p:sp>
        <p:nvSpPr>
          <p:cNvPr id="281" name="Google Shape;281;p12"/>
          <p:cNvSpPr/>
          <p:nvPr/>
        </p:nvSpPr>
        <p:spPr>
          <a:xfrm>
            <a:off x="7741768" y="1828800"/>
            <a:ext cx="1941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Montserrat"/>
              <a:buNone/>
            </a:pPr>
            <a:r>
              <a:rPr lang="en-US" sz="1200" dirty="0"/>
              <a:t>Traditional Schooling </a:t>
            </a:r>
            <a:endParaRPr sz="1050" dirty="0">
              <a:solidFill>
                <a:schemeClr val="dk1"/>
              </a:solidFill>
              <a:latin typeface="Calibri"/>
              <a:ea typeface="Calibri"/>
              <a:cs typeface="Calibri"/>
              <a:sym typeface="Calibri"/>
            </a:endParaRPr>
          </a:p>
        </p:txBody>
      </p:sp>
      <p:sp>
        <p:nvSpPr>
          <p:cNvPr id="282" name="Google Shape;282;p12"/>
          <p:cNvSpPr/>
          <p:nvPr/>
        </p:nvSpPr>
        <p:spPr>
          <a:xfrm>
            <a:off x="9683267" y="1828800"/>
            <a:ext cx="1941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Montserrat"/>
              <a:buNone/>
            </a:pPr>
            <a:r>
              <a:rPr lang="en-US" sz="1050" b="1">
                <a:solidFill>
                  <a:srgbClr val="FFFFFF"/>
                </a:solidFill>
                <a:latin typeface="Montserrat"/>
                <a:ea typeface="Montserrat"/>
                <a:cs typeface="Montserrat"/>
                <a:sym typeface="Montserrat"/>
              </a:rPr>
              <a:t>[Status Quo]</a:t>
            </a:r>
            <a:endParaRPr sz="1050">
              <a:solidFill>
                <a:schemeClr val="dk1"/>
              </a:solidFill>
              <a:latin typeface="Calibri"/>
              <a:ea typeface="Calibri"/>
              <a:cs typeface="Calibri"/>
              <a:sym typeface="Calibri"/>
            </a:endParaRPr>
          </a:p>
        </p:txBody>
      </p:sp>
      <p:sp>
        <p:nvSpPr>
          <p:cNvPr id="283" name="Google Shape;283;p12"/>
          <p:cNvSpPr/>
          <p:nvPr/>
        </p:nvSpPr>
        <p:spPr>
          <a:xfrm>
            <a:off x="3858768" y="2285999"/>
            <a:ext cx="1941500" cy="2320991"/>
          </a:xfrm>
          <a:prstGeom prst="rect">
            <a:avLst/>
          </a:prstGeom>
          <a:solidFill>
            <a:srgbClr val="EEED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2"/>
          <p:cNvSpPr/>
          <p:nvPr/>
        </p:nvSpPr>
        <p:spPr>
          <a:xfrm>
            <a:off x="749808" y="2286000"/>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150"/>
              <a:buFont typeface="Calibri"/>
              <a:buNone/>
            </a:pPr>
            <a:r>
              <a:rPr lang="en-US" sz="1150" b="1" dirty="0">
                <a:solidFill>
                  <a:srgbClr val="1B1838"/>
                </a:solidFill>
                <a:latin typeface="Calibri"/>
                <a:ea typeface="Calibri"/>
                <a:cs typeface="Calibri"/>
                <a:sym typeface="Calibri"/>
              </a:rPr>
              <a:t>Solar powered offline Hardware</a:t>
            </a:r>
            <a:endParaRPr sz="1150" dirty="0">
              <a:solidFill>
                <a:schemeClr val="dk1"/>
              </a:solidFill>
              <a:latin typeface="Calibri"/>
              <a:ea typeface="Calibri"/>
              <a:cs typeface="Calibri"/>
              <a:sym typeface="Calibri"/>
            </a:endParaRPr>
          </a:p>
        </p:txBody>
      </p:sp>
      <p:pic>
        <p:nvPicPr>
          <p:cNvPr id="285" name="Google Shape;285;p12" descr="preencoded.png"/>
          <p:cNvPicPr preferRelativeResize="0"/>
          <p:nvPr/>
        </p:nvPicPr>
        <p:blipFill rotWithShape="1">
          <a:blip r:embed="rId5">
            <a:alphaModFix/>
          </a:blip>
          <a:srcRect/>
          <a:stretch/>
        </p:blipFill>
        <p:spPr>
          <a:xfrm>
            <a:off x="4710646" y="2395728"/>
            <a:ext cx="237744" cy="237744"/>
          </a:xfrm>
          <a:prstGeom prst="rect">
            <a:avLst/>
          </a:prstGeom>
          <a:noFill/>
          <a:ln>
            <a:noFill/>
          </a:ln>
        </p:spPr>
      </p:pic>
      <p:pic>
        <p:nvPicPr>
          <p:cNvPr id="286" name="Google Shape;286;p12" descr="preencoded.png"/>
          <p:cNvPicPr preferRelativeResize="0"/>
          <p:nvPr/>
        </p:nvPicPr>
        <p:blipFill rotWithShape="1">
          <a:blip r:embed="rId6">
            <a:alphaModFix/>
          </a:blip>
          <a:srcRect/>
          <a:stretch/>
        </p:blipFill>
        <p:spPr>
          <a:xfrm>
            <a:off x="6652146" y="2395728"/>
            <a:ext cx="237744" cy="237744"/>
          </a:xfrm>
          <a:prstGeom prst="rect">
            <a:avLst/>
          </a:prstGeom>
          <a:noFill/>
          <a:ln>
            <a:noFill/>
          </a:ln>
        </p:spPr>
      </p:pic>
      <p:pic>
        <p:nvPicPr>
          <p:cNvPr id="287" name="Google Shape;287;p12" descr="preencoded.png"/>
          <p:cNvPicPr preferRelativeResize="0"/>
          <p:nvPr/>
        </p:nvPicPr>
        <p:blipFill rotWithShape="1">
          <a:blip r:embed="rId6">
            <a:alphaModFix/>
          </a:blip>
          <a:srcRect/>
          <a:stretch/>
        </p:blipFill>
        <p:spPr>
          <a:xfrm>
            <a:off x="8593645" y="2395728"/>
            <a:ext cx="237744" cy="237744"/>
          </a:xfrm>
          <a:prstGeom prst="rect">
            <a:avLst/>
          </a:prstGeom>
          <a:noFill/>
          <a:ln>
            <a:noFill/>
          </a:ln>
        </p:spPr>
      </p:pic>
      <p:pic>
        <p:nvPicPr>
          <p:cNvPr id="288" name="Google Shape;288;p12" descr="preencoded.png"/>
          <p:cNvPicPr preferRelativeResize="0"/>
          <p:nvPr/>
        </p:nvPicPr>
        <p:blipFill rotWithShape="1">
          <a:blip r:embed="rId7">
            <a:alphaModFix/>
          </a:blip>
          <a:srcRect/>
          <a:stretch/>
        </p:blipFill>
        <p:spPr>
          <a:xfrm>
            <a:off x="10535145" y="2395728"/>
            <a:ext cx="237744" cy="237744"/>
          </a:xfrm>
          <a:prstGeom prst="rect">
            <a:avLst/>
          </a:prstGeom>
          <a:noFill/>
          <a:ln>
            <a:noFill/>
          </a:ln>
        </p:spPr>
      </p:pic>
      <p:sp>
        <p:nvSpPr>
          <p:cNvPr id="289" name="Google Shape;289;p12"/>
          <p:cNvSpPr/>
          <p:nvPr/>
        </p:nvSpPr>
        <p:spPr>
          <a:xfrm>
            <a:off x="749808" y="2879524"/>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150"/>
              <a:buFont typeface="Calibri"/>
              <a:buNone/>
            </a:pPr>
            <a:r>
              <a:rPr lang="en-US" sz="1100" b="1" dirty="0"/>
              <a:t>Localized modern / Vedic Integration</a:t>
            </a:r>
            <a:endParaRPr sz="1100" b="1" dirty="0">
              <a:solidFill>
                <a:schemeClr val="dk1"/>
              </a:solidFill>
              <a:latin typeface="Calibri"/>
              <a:ea typeface="Calibri"/>
              <a:cs typeface="Calibri"/>
              <a:sym typeface="Calibri"/>
            </a:endParaRPr>
          </a:p>
        </p:txBody>
      </p:sp>
      <p:pic>
        <p:nvPicPr>
          <p:cNvPr id="290" name="Google Shape;290;p12" descr="preencoded.png"/>
          <p:cNvPicPr preferRelativeResize="0"/>
          <p:nvPr/>
        </p:nvPicPr>
        <p:blipFill rotWithShape="1">
          <a:blip r:embed="rId5">
            <a:alphaModFix/>
          </a:blip>
          <a:srcRect/>
          <a:stretch/>
        </p:blipFill>
        <p:spPr>
          <a:xfrm>
            <a:off x="4710646" y="2989252"/>
            <a:ext cx="237744" cy="237744"/>
          </a:xfrm>
          <a:prstGeom prst="rect">
            <a:avLst/>
          </a:prstGeom>
          <a:noFill/>
          <a:ln>
            <a:noFill/>
          </a:ln>
        </p:spPr>
      </p:pic>
      <p:pic>
        <p:nvPicPr>
          <p:cNvPr id="291" name="Google Shape;291;p12" descr="preencoded.png"/>
          <p:cNvPicPr preferRelativeResize="0"/>
          <p:nvPr/>
        </p:nvPicPr>
        <p:blipFill rotWithShape="1">
          <a:blip r:embed="rId7">
            <a:alphaModFix/>
          </a:blip>
          <a:srcRect/>
          <a:stretch/>
        </p:blipFill>
        <p:spPr>
          <a:xfrm>
            <a:off x="6652146" y="2989252"/>
            <a:ext cx="237744" cy="237744"/>
          </a:xfrm>
          <a:prstGeom prst="rect">
            <a:avLst/>
          </a:prstGeom>
          <a:noFill/>
          <a:ln>
            <a:noFill/>
          </a:ln>
        </p:spPr>
      </p:pic>
      <p:pic>
        <p:nvPicPr>
          <p:cNvPr id="292" name="Google Shape;292;p12" descr="preencoded.png"/>
          <p:cNvPicPr preferRelativeResize="0"/>
          <p:nvPr/>
        </p:nvPicPr>
        <p:blipFill rotWithShape="1">
          <a:blip r:embed="rId5">
            <a:alphaModFix/>
          </a:blip>
          <a:srcRect/>
          <a:stretch/>
        </p:blipFill>
        <p:spPr>
          <a:xfrm>
            <a:off x="8593645" y="2989252"/>
            <a:ext cx="237744" cy="237744"/>
          </a:xfrm>
          <a:prstGeom prst="rect">
            <a:avLst/>
          </a:prstGeom>
          <a:noFill/>
          <a:ln>
            <a:noFill/>
          </a:ln>
        </p:spPr>
      </p:pic>
      <p:pic>
        <p:nvPicPr>
          <p:cNvPr id="293" name="Google Shape;293;p12" descr="preencoded.png"/>
          <p:cNvPicPr preferRelativeResize="0"/>
          <p:nvPr/>
        </p:nvPicPr>
        <p:blipFill rotWithShape="1">
          <a:blip r:embed="rId6">
            <a:alphaModFix/>
          </a:blip>
          <a:srcRect/>
          <a:stretch/>
        </p:blipFill>
        <p:spPr>
          <a:xfrm>
            <a:off x="10535145" y="2989252"/>
            <a:ext cx="237744" cy="237744"/>
          </a:xfrm>
          <a:prstGeom prst="rect">
            <a:avLst/>
          </a:prstGeom>
          <a:noFill/>
          <a:ln>
            <a:noFill/>
          </a:ln>
        </p:spPr>
      </p:pic>
      <p:sp>
        <p:nvSpPr>
          <p:cNvPr id="294" name="Google Shape;294;p12"/>
          <p:cNvSpPr/>
          <p:nvPr/>
        </p:nvSpPr>
        <p:spPr>
          <a:xfrm>
            <a:off x="749808" y="3473048"/>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150"/>
              <a:buFont typeface="Calibri"/>
              <a:buNone/>
            </a:pPr>
            <a:r>
              <a:rPr lang="en-US" sz="1600" dirty="0"/>
              <a:t>Hardware Cost Efficiency</a:t>
            </a:r>
            <a:endParaRPr sz="1150" dirty="0">
              <a:solidFill>
                <a:schemeClr val="dk1"/>
              </a:solidFill>
              <a:latin typeface="Calibri"/>
              <a:ea typeface="Calibri"/>
              <a:cs typeface="Calibri"/>
              <a:sym typeface="Calibri"/>
            </a:endParaRPr>
          </a:p>
        </p:txBody>
      </p:sp>
      <p:pic>
        <p:nvPicPr>
          <p:cNvPr id="295" name="Google Shape;295;p12" descr="preencoded.png"/>
          <p:cNvPicPr preferRelativeResize="0"/>
          <p:nvPr/>
        </p:nvPicPr>
        <p:blipFill rotWithShape="1">
          <a:blip r:embed="rId5">
            <a:alphaModFix/>
          </a:blip>
          <a:srcRect/>
          <a:stretch/>
        </p:blipFill>
        <p:spPr>
          <a:xfrm>
            <a:off x="4710646" y="3582776"/>
            <a:ext cx="237744" cy="237744"/>
          </a:xfrm>
          <a:prstGeom prst="rect">
            <a:avLst/>
          </a:prstGeom>
          <a:noFill/>
          <a:ln>
            <a:noFill/>
          </a:ln>
        </p:spPr>
      </p:pic>
      <p:pic>
        <p:nvPicPr>
          <p:cNvPr id="296" name="Google Shape;296;p12" descr="preencoded.png"/>
          <p:cNvPicPr preferRelativeResize="0"/>
          <p:nvPr/>
        </p:nvPicPr>
        <p:blipFill rotWithShape="1">
          <a:blip r:embed="rId6">
            <a:alphaModFix/>
          </a:blip>
          <a:srcRect/>
          <a:stretch/>
        </p:blipFill>
        <p:spPr>
          <a:xfrm>
            <a:off x="6652146" y="3582776"/>
            <a:ext cx="237744" cy="237744"/>
          </a:xfrm>
          <a:prstGeom prst="rect">
            <a:avLst/>
          </a:prstGeom>
          <a:noFill/>
          <a:ln>
            <a:noFill/>
          </a:ln>
        </p:spPr>
      </p:pic>
      <p:pic>
        <p:nvPicPr>
          <p:cNvPr id="297" name="Google Shape;297;p12" descr="preencoded.png"/>
          <p:cNvPicPr preferRelativeResize="0"/>
          <p:nvPr/>
        </p:nvPicPr>
        <p:blipFill rotWithShape="1">
          <a:blip r:embed="rId6">
            <a:alphaModFix/>
          </a:blip>
          <a:srcRect/>
          <a:stretch/>
        </p:blipFill>
        <p:spPr>
          <a:xfrm>
            <a:off x="8593645" y="3582776"/>
            <a:ext cx="237744" cy="237744"/>
          </a:xfrm>
          <a:prstGeom prst="rect">
            <a:avLst/>
          </a:prstGeom>
          <a:noFill/>
          <a:ln>
            <a:noFill/>
          </a:ln>
        </p:spPr>
      </p:pic>
      <p:pic>
        <p:nvPicPr>
          <p:cNvPr id="298" name="Google Shape;298;p12" descr="preencoded.png"/>
          <p:cNvPicPr preferRelativeResize="0"/>
          <p:nvPr/>
        </p:nvPicPr>
        <p:blipFill rotWithShape="1">
          <a:blip r:embed="rId6">
            <a:alphaModFix/>
          </a:blip>
          <a:srcRect/>
          <a:stretch/>
        </p:blipFill>
        <p:spPr>
          <a:xfrm>
            <a:off x="10535145" y="3582776"/>
            <a:ext cx="237744" cy="237744"/>
          </a:xfrm>
          <a:prstGeom prst="rect">
            <a:avLst/>
          </a:prstGeom>
          <a:noFill/>
          <a:ln>
            <a:noFill/>
          </a:ln>
        </p:spPr>
      </p:pic>
      <p:sp>
        <p:nvSpPr>
          <p:cNvPr id="299" name="Google Shape;299;p12"/>
          <p:cNvSpPr/>
          <p:nvPr/>
        </p:nvSpPr>
        <p:spPr>
          <a:xfrm>
            <a:off x="566928" y="3982560"/>
            <a:ext cx="3291840" cy="625224"/>
          </a:xfrm>
          <a:prstGeom prst="rect">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2"/>
          <p:cNvSpPr/>
          <p:nvPr/>
        </p:nvSpPr>
        <p:spPr>
          <a:xfrm>
            <a:off x="749808" y="4066572"/>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150"/>
              <a:buFont typeface="Calibri"/>
              <a:buNone/>
            </a:pPr>
            <a:r>
              <a:rPr lang="en-US" sz="1600" dirty="0"/>
              <a:t>User Data Privacy</a:t>
            </a:r>
            <a:endParaRPr sz="1150" dirty="0">
              <a:solidFill>
                <a:schemeClr val="dk1"/>
              </a:solidFill>
              <a:latin typeface="Calibri"/>
              <a:ea typeface="Calibri"/>
              <a:cs typeface="Calibri"/>
              <a:sym typeface="Calibri"/>
            </a:endParaRPr>
          </a:p>
        </p:txBody>
      </p:sp>
      <p:pic>
        <p:nvPicPr>
          <p:cNvPr id="301" name="Google Shape;301;p12" descr="preencoded.png"/>
          <p:cNvPicPr preferRelativeResize="0"/>
          <p:nvPr/>
        </p:nvPicPr>
        <p:blipFill rotWithShape="1">
          <a:blip r:embed="rId5">
            <a:alphaModFix/>
          </a:blip>
          <a:srcRect/>
          <a:stretch/>
        </p:blipFill>
        <p:spPr>
          <a:xfrm>
            <a:off x="4710646" y="4176300"/>
            <a:ext cx="237744" cy="237744"/>
          </a:xfrm>
          <a:prstGeom prst="rect">
            <a:avLst/>
          </a:prstGeom>
          <a:noFill/>
          <a:ln>
            <a:noFill/>
          </a:ln>
        </p:spPr>
      </p:pic>
      <p:pic>
        <p:nvPicPr>
          <p:cNvPr id="302" name="Google Shape;302;p12" descr="preencoded.png"/>
          <p:cNvPicPr preferRelativeResize="0"/>
          <p:nvPr/>
        </p:nvPicPr>
        <p:blipFill rotWithShape="1">
          <a:blip r:embed="rId5">
            <a:alphaModFix/>
          </a:blip>
          <a:srcRect/>
          <a:stretch/>
        </p:blipFill>
        <p:spPr>
          <a:xfrm>
            <a:off x="6652146" y="4176300"/>
            <a:ext cx="237744" cy="237744"/>
          </a:xfrm>
          <a:prstGeom prst="rect">
            <a:avLst/>
          </a:prstGeom>
          <a:noFill/>
          <a:ln>
            <a:noFill/>
          </a:ln>
        </p:spPr>
      </p:pic>
      <p:pic>
        <p:nvPicPr>
          <p:cNvPr id="303" name="Google Shape;303;p12" descr="preencoded.png"/>
          <p:cNvPicPr preferRelativeResize="0"/>
          <p:nvPr/>
        </p:nvPicPr>
        <p:blipFill rotWithShape="1">
          <a:blip r:embed="rId6">
            <a:alphaModFix/>
          </a:blip>
          <a:srcRect/>
          <a:stretch/>
        </p:blipFill>
        <p:spPr>
          <a:xfrm>
            <a:off x="8593645" y="4176300"/>
            <a:ext cx="237744" cy="237744"/>
          </a:xfrm>
          <a:prstGeom prst="rect">
            <a:avLst/>
          </a:prstGeom>
          <a:noFill/>
          <a:ln>
            <a:noFill/>
          </a:ln>
        </p:spPr>
      </p:pic>
      <p:pic>
        <p:nvPicPr>
          <p:cNvPr id="304" name="Google Shape;304;p12" descr="preencoded.png"/>
          <p:cNvPicPr preferRelativeResize="0"/>
          <p:nvPr/>
        </p:nvPicPr>
        <p:blipFill rotWithShape="1">
          <a:blip r:embed="rId6">
            <a:alphaModFix/>
          </a:blip>
          <a:srcRect/>
          <a:stretch/>
        </p:blipFill>
        <p:spPr>
          <a:xfrm>
            <a:off x="10535145" y="4176300"/>
            <a:ext cx="237744" cy="237744"/>
          </a:xfrm>
          <a:prstGeom prst="rect">
            <a:avLst/>
          </a:prstGeom>
          <a:noFill/>
          <a:ln>
            <a:noFill/>
          </a:ln>
        </p:spPr>
      </p:pic>
      <p:sp>
        <p:nvSpPr>
          <p:cNvPr id="305" name="Google Shape;305;p12"/>
          <p:cNvSpPr/>
          <p:nvPr/>
        </p:nvSpPr>
        <p:spPr>
          <a:xfrm>
            <a:off x="567080" y="4954464"/>
            <a:ext cx="11057839" cy="1499616"/>
          </a:xfrm>
          <a:prstGeom prst="roundRect">
            <a:avLst>
              <a:gd name="adj" fmla="val 10000"/>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6" name="Google Shape;306;p12" descr="preencoded.png"/>
          <p:cNvPicPr preferRelativeResize="0"/>
          <p:nvPr/>
        </p:nvPicPr>
        <p:blipFill rotWithShape="1">
          <a:blip r:embed="rId8">
            <a:alphaModFix/>
          </a:blip>
          <a:srcRect/>
          <a:stretch/>
        </p:blipFill>
        <p:spPr>
          <a:xfrm>
            <a:off x="567080" y="4954464"/>
            <a:ext cx="73152" cy="1501200"/>
          </a:xfrm>
          <a:prstGeom prst="rect">
            <a:avLst/>
          </a:prstGeom>
          <a:noFill/>
          <a:ln>
            <a:noFill/>
          </a:ln>
        </p:spPr>
      </p:pic>
      <p:pic>
        <p:nvPicPr>
          <p:cNvPr id="307" name="Google Shape;307;p12" descr="preencoded.png"/>
          <p:cNvPicPr preferRelativeResize="0"/>
          <p:nvPr/>
        </p:nvPicPr>
        <p:blipFill rotWithShape="1">
          <a:blip r:embed="rId9">
            <a:alphaModFix/>
          </a:blip>
          <a:srcRect/>
          <a:stretch/>
        </p:blipFill>
        <p:spPr>
          <a:xfrm>
            <a:off x="859688" y="5256216"/>
            <a:ext cx="310896" cy="310896"/>
          </a:xfrm>
          <a:prstGeom prst="rect">
            <a:avLst/>
          </a:prstGeom>
          <a:noFill/>
          <a:ln>
            <a:noFill/>
          </a:ln>
        </p:spPr>
      </p:pic>
      <p:sp>
        <p:nvSpPr>
          <p:cNvPr id="308" name="Google Shape;308;p12"/>
          <p:cNvSpPr/>
          <p:nvPr/>
        </p:nvSpPr>
        <p:spPr>
          <a:xfrm>
            <a:off x="1344320" y="5256216"/>
            <a:ext cx="10051999" cy="6126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200"/>
              <a:buFont typeface="Montserrat"/>
              <a:buNone/>
            </a:pPr>
            <a:r>
              <a:rPr lang="en-US" sz="1200" b="1" dirty="0">
                <a:solidFill>
                  <a:srgbClr val="C8186B"/>
                </a:solidFill>
                <a:latin typeface="Montserrat"/>
                <a:ea typeface="Montserrat"/>
                <a:cs typeface="Montserrat"/>
                <a:sym typeface="Montserrat"/>
              </a:rPr>
              <a:t>YOUR ADVANTAGE   </a:t>
            </a:r>
            <a:endParaRPr dirty="0"/>
          </a:p>
          <a:p>
            <a:pPr marL="0" marR="0" lvl="0" indent="0" algn="l" rtl="0">
              <a:spcBef>
                <a:spcPts val="0"/>
              </a:spcBef>
              <a:spcAft>
                <a:spcPts val="0"/>
              </a:spcAft>
              <a:buClr>
                <a:schemeClr val="dk1"/>
              </a:buClr>
              <a:buSzPts val="1200"/>
              <a:buFont typeface="Calibri"/>
              <a:buNone/>
            </a:pPr>
            <a:endParaRPr sz="1200" dirty="0">
              <a:solidFill>
                <a:srgbClr val="55586F"/>
              </a:solidFill>
              <a:latin typeface="Calibri"/>
              <a:ea typeface="Calibri"/>
              <a:cs typeface="Calibri"/>
              <a:sym typeface="Calibri"/>
            </a:endParaRPr>
          </a:p>
          <a:p>
            <a:pPr marL="0" marR="0" lvl="0" indent="0" algn="l" rtl="0">
              <a:spcBef>
                <a:spcPts val="0"/>
              </a:spcBef>
              <a:spcAft>
                <a:spcPts val="0"/>
              </a:spcAft>
              <a:buClr>
                <a:srgbClr val="55586F"/>
              </a:buClr>
              <a:buSzPts val="1200"/>
              <a:buFont typeface="Calibri"/>
              <a:buNone/>
            </a:pPr>
            <a:r>
              <a:rPr lang="en-US" sz="1600" dirty="0"/>
              <a:t>16 years of deeply rooted grassroots experience and trust, a patented offline delivery technology, and an un-copyable integration of India's ancient Shastras with cutting-edge on-device AI algorithms. </a:t>
            </a:r>
            <a:r>
              <a:rPr lang="en-US" sz="1200" dirty="0">
                <a:solidFill>
                  <a:srgbClr val="55586F"/>
                </a:solidFill>
                <a:latin typeface="Calibri"/>
                <a:ea typeface="Calibri"/>
                <a:cs typeface="Calibri"/>
                <a:sym typeface="Calibri"/>
              </a:rPr>
              <a:t>.</a:t>
            </a:r>
            <a:endParaRPr sz="1200" dirty="0">
              <a:solidFill>
                <a:schemeClr val="dk1"/>
              </a:solidFill>
              <a:latin typeface="Calibri"/>
              <a:ea typeface="Calibri"/>
              <a:cs typeface="Calibri"/>
              <a:sym typeface="Calibri"/>
            </a:endParaRPr>
          </a:p>
        </p:txBody>
      </p:sp>
      <p:sp>
        <p:nvSpPr>
          <p:cNvPr id="309" name="Google Shape;309;p12"/>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310" name="Google Shape;310;p12"/>
          <p:cNvPicPr preferRelativeResize="0"/>
          <p:nvPr/>
        </p:nvPicPr>
        <p:blipFill rotWithShape="1">
          <a:blip r:embed="rId10">
            <a:alphaModFix/>
          </a:blip>
          <a:srcRect r="55655"/>
          <a:stretch/>
        </p:blipFill>
        <p:spPr>
          <a:xfrm>
            <a:off x="566928" y="302768"/>
            <a:ext cx="323705" cy="3149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5"/>
        <p:cNvGrpSpPr/>
        <p:nvPr/>
      </p:nvGrpSpPr>
      <p:grpSpPr>
        <a:xfrm>
          <a:off x="0" y="0"/>
          <a:ext cx="0" cy="0"/>
          <a:chOff x="0" y="0"/>
          <a:chExt cx="0" cy="0"/>
        </a:xfrm>
      </p:grpSpPr>
      <p:pic>
        <p:nvPicPr>
          <p:cNvPr id="316" name="Google Shape;316;p13"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317" name="Google Shape;317;p13"/>
          <p:cNvSpPr/>
          <p:nvPr/>
        </p:nvSpPr>
        <p:spPr>
          <a:xfrm>
            <a:off x="795528" y="1033272"/>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Financials &amp; The Ask</a:t>
            </a:r>
            <a:endParaRPr sz="2700">
              <a:solidFill>
                <a:schemeClr val="dk1"/>
              </a:solidFill>
              <a:latin typeface="Calibri"/>
              <a:ea typeface="Calibri"/>
              <a:cs typeface="Calibri"/>
              <a:sym typeface="Calibri"/>
            </a:endParaRPr>
          </a:p>
        </p:txBody>
      </p:sp>
      <p:pic>
        <p:nvPicPr>
          <p:cNvPr id="318" name="Google Shape;318;p13" descr="preencoded.png"/>
          <p:cNvPicPr preferRelativeResize="0"/>
          <p:nvPr/>
        </p:nvPicPr>
        <p:blipFill rotWithShape="1">
          <a:blip r:embed="rId4">
            <a:alphaModFix/>
          </a:blip>
          <a:srcRect/>
          <a:stretch/>
        </p:blipFill>
        <p:spPr>
          <a:xfrm>
            <a:off x="566928" y="1965960"/>
            <a:ext cx="4846320" cy="3941064"/>
          </a:xfrm>
          <a:prstGeom prst="rect">
            <a:avLst/>
          </a:prstGeom>
          <a:noFill/>
          <a:ln>
            <a:noFill/>
          </a:ln>
        </p:spPr>
      </p:pic>
      <p:sp>
        <p:nvSpPr>
          <p:cNvPr id="319" name="Google Shape;319;p13"/>
          <p:cNvSpPr/>
          <p:nvPr/>
        </p:nvSpPr>
        <p:spPr>
          <a:xfrm>
            <a:off x="932688" y="2240280"/>
            <a:ext cx="42062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Montserrat"/>
              <a:buNone/>
            </a:pPr>
            <a:r>
              <a:rPr lang="en-US" sz="1100" b="1">
                <a:solidFill>
                  <a:srgbClr val="FFFFFF"/>
                </a:solidFill>
                <a:latin typeface="Montserrat"/>
                <a:ea typeface="Montserrat"/>
                <a:cs typeface="Montserrat"/>
                <a:sym typeface="Montserrat"/>
              </a:rPr>
              <a:t>WE WANT TO RAISE</a:t>
            </a:r>
            <a:endParaRPr sz="1100">
              <a:solidFill>
                <a:schemeClr val="dk1"/>
              </a:solidFill>
              <a:latin typeface="Calibri"/>
              <a:ea typeface="Calibri"/>
              <a:cs typeface="Calibri"/>
              <a:sym typeface="Calibri"/>
            </a:endParaRPr>
          </a:p>
        </p:txBody>
      </p:sp>
      <p:sp>
        <p:nvSpPr>
          <p:cNvPr id="320" name="Google Shape;320;p13"/>
          <p:cNvSpPr/>
          <p:nvPr/>
        </p:nvSpPr>
        <p:spPr>
          <a:xfrm>
            <a:off x="932688" y="2514600"/>
            <a:ext cx="42976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Montserrat"/>
              <a:buNone/>
            </a:pPr>
            <a:r>
              <a:rPr lang="en-US" sz="2000" b="1" dirty="0">
                <a:solidFill>
                  <a:srgbClr val="FFFFFF"/>
                </a:solidFill>
                <a:latin typeface="Montserrat"/>
                <a:ea typeface="Montserrat"/>
                <a:cs typeface="Montserrat"/>
                <a:sym typeface="Montserrat"/>
              </a:rPr>
              <a:t>₹100 </a:t>
            </a:r>
            <a:r>
              <a:rPr lang="en-US" sz="2000" b="1" dirty="0" err="1">
                <a:solidFill>
                  <a:srgbClr val="FFFFFF"/>
                </a:solidFill>
                <a:latin typeface="Montserrat"/>
                <a:ea typeface="Montserrat"/>
                <a:cs typeface="Montserrat"/>
                <a:sym typeface="Montserrat"/>
              </a:rPr>
              <a:t>cr</a:t>
            </a:r>
            <a:endParaRPr sz="2000" dirty="0">
              <a:solidFill>
                <a:schemeClr val="dk1"/>
              </a:solidFill>
              <a:latin typeface="Calibri"/>
              <a:ea typeface="Calibri"/>
              <a:cs typeface="Calibri"/>
              <a:sym typeface="Calibri"/>
            </a:endParaRPr>
          </a:p>
        </p:txBody>
      </p:sp>
      <p:sp>
        <p:nvSpPr>
          <p:cNvPr id="321" name="Google Shape;321;p13"/>
          <p:cNvSpPr/>
          <p:nvPr/>
        </p:nvSpPr>
        <p:spPr>
          <a:xfrm>
            <a:off x="932688" y="3136392"/>
            <a:ext cx="42062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Montserrat"/>
              <a:buNone/>
            </a:pPr>
            <a:r>
              <a:rPr lang="en-US" sz="1050" b="1">
                <a:solidFill>
                  <a:srgbClr val="FFFFFF"/>
                </a:solidFill>
                <a:latin typeface="Montserrat"/>
                <a:ea typeface="Montserrat"/>
                <a:cs typeface="Montserrat"/>
                <a:sym typeface="Montserrat"/>
              </a:rPr>
              <a:t>USE OF FUNDS</a:t>
            </a:r>
            <a:endParaRPr sz="1050">
              <a:solidFill>
                <a:schemeClr val="dk1"/>
              </a:solidFill>
              <a:latin typeface="Calibri"/>
              <a:ea typeface="Calibri"/>
              <a:cs typeface="Calibri"/>
              <a:sym typeface="Calibri"/>
            </a:endParaRPr>
          </a:p>
        </p:txBody>
      </p:sp>
      <p:sp>
        <p:nvSpPr>
          <p:cNvPr id="322" name="Google Shape;322;p13"/>
          <p:cNvSpPr/>
          <p:nvPr/>
        </p:nvSpPr>
        <p:spPr>
          <a:xfrm>
            <a:off x="932688" y="3447288"/>
            <a:ext cx="4114800" cy="11887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350"/>
              <a:buFont typeface="Calibri"/>
              <a:buNone/>
            </a:pPr>
            <a:r>
              <a:rPr lang="en-US" sz="1200" b="1" dirty="0"/>
              <a:t>40%</a:t>
            </a:r>
            <a:r>
              <a:rPr lang="en-US" sz="1200" dirty="0"/>
              <a:t> → Product / Tech (R&amp;D for Project </a:t>
            </a:r>
            <a:r>
              <a:rPr lang="en-US" sz="1200" dirty="0" err="1"/>
              <a:t>Dhwani</a:t>
            </a:r>
            <a:r>
              <a:rPr lang="en-US" sz="1200" dirty="0"/>
              <a:t> &amp; Project </a:t>
            </a:r>
            <a:r>
              <a:rPr lang="en-US" sz="1200" dirty="0" err="1"/>
              <a:t>Aatma</a:t>
            </a:r>
            <a:r>
              <a:rPr lang="en-US" sz="1200" dirty="0"/>
              <a:t>)</a:t>
            </a:r>
          </a:p>
          <a:p>
            <a:pPr marL="0" marR="0" lvl="0" indent="0" algn="l" rtl="0">
              <a:lnSpc>
                <a:spcPct val="100000"/>
              </a:lnSpc>
              <a:spcBef>
                <a:spcPts val="0"/>
              </a:spcBef>
              <a:spcAft>
                <a:spcPts val="0"/>
              </a:spcAft>
              <a:buClr>
                <a:srgbClr val="FFFFFF"/>
              </a:buClr>
              <a:buSzPts val="1350"/>
              <a:buFont typeface="Calibri"/>
              <a:buNone/>
            </a:pPr>
            <a:r>
              <a:rPr lang="en-US" sz="1200" b="1" dirty="0"/>
              <a:t>30%</a:t>
            </a:r>
            <a:r>
              <a:rPr lang="en-US" sz="1200" dirty="0"/>
              <a:t> → Operations (Sourcing and scaling refurbished e-waste hardware) </a:t>
            </a:r>
          </a:p>
          <a:p>
            <a:pPr marL="0" marR="0" lvl="0" indent="0" algn="l" rtl="0">
              <a:lnSpc>
                <a:spcPct val="100000"/>
              </a:lnSpc>
              <a:spcBef>
                <a:spcPts val="0"/>
              </a:spcBef>
              <a:spcAft>
                <a:spcPts val="0"/>
              </a:spcAft>
              <a:buClr>
                <a:srgbClr val="FFFFFF"/>
              </a:buClr>
              <a:buSzPts val="1350"/>
              <a:buFont typeface="Calibri"/>
              <a:buNone/>
            </a:pPr>
            <a:r>
              <a:rPr lang="en-US" sz="1200" b="1" dirty="0"/>
              <a:t>20%</a:t>
            </a:r>
            <a:r>
              <a:rPr lang="en-US" sz="1200" dirty="0"/>
              <a:t> → Team / Salaries</a:t>
            </a:r>
          </a:p>
          <a:p>
            <a:pPr marL="0" marR="0" lvl="0" indent="0" algn="l" rtl="0">
              <a:lnSpc>
                <a:spcPct val="100000"/>
              </a:lnSpc>
              <a:spcBef>
                <a:spcPts val="0"/>
              </a:spcBef>
              <a:spcAft>
                <a:spcPts val="0"/>
              </a:spcAft>
              <a:buClr>
                <a:srgbClr val="FFFFFF"/>
              </a:buClr>
              <a:buSzPts val="1350"/>
              <a:buFont typeface="Calibri"/>
              <a:buNone/>
            </a:pPr>
            <a:r>
              <a:rPr lang="en-US" sz="1200" b="1" dirty="0"/>
              <a:t>10%</a:t>
            </a:r>
            <a:r>
              <a:rPr lang="en-US" sz="1200" dirty="0"/>
              <a:t> → Marketing / GTM (Grassroots awareness and deployment) </a:t>
            </a:r>
            <a:endParaRPr sz="1200" dirty="0">
              <a:solidFill>
                <a:schemeClr val="dk1"/>
              </a:solidFill>
              <a:latin typeface="Calibri"/>
              <a:ea typeface="Calibri"/>
              <a:cs typeface="Calibri"/>
              <a:sym typeface="Calibri"/>
            </a:endParaRPr>
          </a:p>
        </p:txBody>
      </p:sp>
      <p:sp>
        <p:nvSpPr>
          <p:cNvPr id="323" name="Google Shape;323;p13"/>
          <p:cNvSpPr/>
          <p:nvPr/>
        </p:nvSpPr>
        <p:spPr>
          <a:xfrm>
            <a:off x="5824728" y="1965960"/>
            <a:ext cx="5800039"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50"/>
              <a:buFont typeface="Montserrat"/>
              <a:buNone/>
            </a:pPr>
            <a:r>
              <a:rPr lang="en-US" sz="1050" b="1">
                <a:solidFill>
                  <a:srgbClr val="C8186B"/>
                </a:solidFill>
                <a:latin typeface="Montserrat"/>
                <a:ea typeface="Montserrat"/>
                <a:cs typeface="Montserrat"/>
                <a:sym typeface="Montserrat"/>
              </a:rPr>
              <a:t>3-YEAR SNAPSHOT</a:t>
            </a:r>
            <a:endParaRPr sz="1050">
              <a:solidFill>
                <a:schemeClr val="dk1"/>
              </a:solidFill>
              <a:latin typeface="Calibri"/>
              <a:ea typeface="Calibri"/>
              <a:cs typeface="Calibri"/>
              <a:sym typeface="Calibri"/>
            </a:endParaRPr>
          </a:p>
        </p:txBody>
      </p:sp>
      <p:sp>
        <p:nvSpPr>
          <p:cNvPr id="324" name="Google Shape;324;p13"/>
          <p:cNvSpPr/>
          <p:nvPr/>
        </p:nvSpPr>
        <p:spPr>
          <a:xfrm>
            <a:off x="5824728" y="2276856"/>
            <a:ext cx="1780946" cy="914400"/>
          </a:xfrm>
          <a:prstGeom prst="roundRect">
            <a:avLst>
              <a:gd name="adj" fmla="val 10000"/>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3"/>
          <p:cNvSpPr/>
          <p:nvPr/>
        </p:nvSpPr>
        <p:spPr>
          <a:xfrm>
            <a:off x="5824728" y="2386584"/>
            <a:ext cx="178094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23BE"/>
              </a:buClr>
              <a:buSzPts val="1100"/>
              <a:buFont typeface="Montserrat"/>
              <a:buNone/>
            </a:pPr>
            <a:r>
              <a:rPr lang="en-US" sz="1100" b="1">
                <a:solidFill>
                  <a:srgbClr val="7A23BE"/>
                </a:solidFill>
                <a:latin typeface="Montserrat"/>
                <a:ea typeface="Montserrat"/>
                <a:cs typeface="Montserrat"/>
                <a:sym typeface="Montserrat"/>
              </a:rPr>
              <a:t>Year 1</a:t>
            </a:r>
            <a:endParaRPr sz="1100">
              <a:solidFill>
                <a:schemeClr val="dk1"/>
              </a:solidFill>
              <a:latin typeface="Calibri"/>
              <a:ea typeface="Calibri"/>
              <a:cs typeface="Calibri"/>
              <a:sym typeface="Calibri"/>
            </a:endParaRPr>
          </a:p>
        </p:txBody>
      </p:sp>
      <p:sp>
        <p:nvSpPr>
          <p:cNvPr id="326" name="Google Shape;326;p13"/>
          <p:cNvSpPr/>
          <p:nvPr/>
        </p:nvSpPr>
        <p:spPr>
          <a:xfrm>
            <a:off x="5824728" y="2624328"/>
            <a:ext cx="1780946"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900"/>
              <a:buFont typeface="Montserrat"/>
              <a:buNone/>
            </a:pPr>
            <a:r>
              <a:rPr lang="en-US" sz="1900" b="1" dirty="0">
                <a:solidFill>
                  <a:srgbClr val="1B1838"/>
                </a:solidFill>
                <a:latin typeface="Montserrat"/>
                <a:ea typeface="Montserrat"/>
                <a:cs typeface="Montserrat"/>
                <a:sym typeface="Montserrat"/>
              </a:rPr>
              <a:t>[ ₹ 100]</a:t>
            </a:r>
            <a:endParaRPr sz="1900" dirty="0">
              <a:solidFill>
                <a:schemeClr val="dk1"/>
              </a:solidFill>
              <a:latin typeface="Calibri"/>
              <a:ea typeface="Calibri"/>
              <a:cs typeface="Calibri"/>
              <a:sym typeface="Calibri"/>
            </a:endParaRPr>
          </a:p>
        </p:txBody>
      </p:sp>
      <p:sp>
        <p:nvSpPr>
          <p:cNvPr id="327" name="Google Shape;327;p13"/>
          <p:cNvSpPr/>
          <p:nvPr/>
        </p:nvSpPr>
        <p:spPr>
          <a:xfrm>
            <a:off x="7834274" y="2276856"/>
            <a:ext cx="1780946" cy="914400"/>
          </a:xfrm>
          <a:prstGeom prst="roundRect">
            <a:avLst>
              <a:gd name="adj" fmla="val 10000"/>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3"/>
          <p:cNvSpPr/>
          <p:nvPr/>
        </p:nvSpPr>
        <p:spPr>
          <a:xfrm>
            <a:off x="7834274" y="2386584"/>
            <a:ext cx="178094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23BE"/>
              </a:buClr>
              <a:buSzPts val="1100"/>
              <a:buFont typeface="Montserrat"/>
              <a:buNone/>
            </a:pPr>
            <a:r>
              <a:rPr lang="en-US" sz="1100" b="1">
                <a:solidFill>
                  <a:srgbClr val="7A23BE"/>
                </a:solidFill>
                <a:latin typeface="Montserrat"/>
                <a:ea typeface="Montserrat"/>
                <a:cs typeface="Montserrat"/>
                <a:sym typeface="Montserrat"/>
              </a:rPr>
              <a:t>Year 2</a:t>
            </a:r>
            <a:endParaRPr sz="1100">
              <a:solidFill>
                <a:schemeClr val="dk1"/>
              </a:solidFill>
              <a:latin typeface="Calibri"/>
              <a:ea typeface="Calibri"/>
              <a:cs typeface="Calibri"/>
              <a:sym typeface="Calibri"/>
            </a:endParaRPr>
          </a:p>
        </p:txBody>
      </p:sp>
      <p:sp>
        <p:nvSpPr>
          <p:cNvPr id="329" name="Google Shape;329;p13"/>
          <p:cNvSpPr/>
          <p:nvPr/>
        </p:nvSpPr>
        <p:spPr>
          <a:xfrm>
            <a:off x="7834274" y="2624328"/>
            <a:ext cx="1780946"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900"/>
              <a:buFont typeface="Montserrat"/>
              <a:buNone/>
            </a:pPr>
            <a:r>
              <a:rPr lang="en-US" sz="1900" b="1" dirty="0">
                <a:solidFill>
                  <a:srgbClr val="1B1838"/>
                </a:solidFill>
                <a:latin typeface="Montserrat"/>
                <a:ea typeface="Montserrat"/>
                <a:cs typeface="Montserrat"/>
                <a:sym typeface="Montserrat"/>
              </a:rPr>
              <a:t>[ ₹200 ]</a:t>
            </a:r>
            <a:endParaRPr sz="1900" dirty="0">
              <a:solidFill>
                <a:schemeClr val="dk1"/>
              </a:solidFill>
              <a:latin typeface="Calibri"/>
              <a:ea typeface="Calibri"/>
              <a:cs typeface="Calibri"/>
              <a:sym typeface="Calibri"/>
            </a:endParaRPr>
          </a:p>
        </p:txBody>
      </p:sp>
      <p:sp>
        <p:nvSpPr>
          <p:cNvPr id="330" name="Google Shape;330;p13"/>
          <p:cNvSpPr/>
          <p:nvPr/>
        </p:nvSpPr>
        <p:spPr>
          <a:xfrm>
            <a:off x="9843821" y="2276856"/>
            <a:ext cx="1780946" cy="914400"/>
          </a:xfrm>
          <a:prstGeom prst="roundRect">
            <a:avLst>
              <a:gd name="adj" fmla="val 10000"/>
            </a:avLst>
          </a:prstGeom>
          <a:solidFill>
            <a:srgbClr val="F5F4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3"/>
          <p:cNvSpPr/>
          <p:nvPr/>
        </p:nvSpPr>
        <p:spPr>
          <a:xfrm>
            <a:off x="9843821" y="2386584"/>
            <a:ext cx="178094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23BE"/>
              </a:buClr>
              <a:buSzPts val="1100"/>
              <a:buFont typeface="Montserrat"/>
              <a:buNone/>
            </a:pPr>
            <a:r>
              <a:rPr lang="en-US" sz="1100" b="1">
                <a:solidFill>
                  <a:srgbClr val="7A23BE"/>
                </a:solidFill>
                <a:latin typeface="Montserrat"/>
                <a:ea typeface="Montserrat"/>
                <a:cs typeface="Montserrat"/>
                <a:sym typeface="Montserrat"/>
              </a:rPr>
              <a:t>Year 3</a:t>
            </a:r>
            <a:endParaRPr sz="1100">
              <a:solidFill>
                <a:schemeClr val="dk1"/>
              </a:solidFill>
              <a:latin typeface="Calibri"/>
              <a:ea typeface="Calibri"/>
              <a:cs typeface="Calibri"/>
              <a:sym typeface="Calibri"/>
            </a:endParaRPr>
          </a:p>
        </p:txBody>
      </p:sp>
      <p:sp>
        <p:nvSpPr>
          <p:cNvPr id="332" name="Google Shape;332;p13"/>
          <p:cNvSpPr/>
          <p:nvPr/>
        </p:nvSpPr>
        <p:spPr>
          <a:xfrm>
            <a:off x="9843821" y="2624328"/>
            <a:ext cx="1780946"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1838"/>
              </a:buClr>
              <a:buSzPts val="1900"/>
              <a:buFont typeface="Montserrat"/>
              <a:buNone/>
            </a:pPr>
            <a:r>
              <a:rPr lang="en-US" sz="1900" b="1" dirty="0">
                <a:solidFill>
                  <a:srgbClr val="1B1838"/>
                </a:solidFill>
                <a:latin typeface="Montserrat"/>
                <a:ea typeface="Montserrat"/>
                <a:cs typeface="Montserrat"/>
                <a:sym typeface="Montserrat"/>
              </a:rPr>
              <a:t>[ ₹ 300]</a:t>
            </a:r>
            <a:endParaRPr sz="1900" dirty="0">
              <a:solidFill>
                <a:schemeClr val="dk1"/>
              </a:solidFill>
              <a:latin typeface="Calibri"/>
              <a:ea typeface="Calibri"/>
              <a:cs typeface="Calibri"/>
              <a:sym typeface="Calibri"/>
            </a:endParaRPr>
          </a:p>
        </p:txBody>
      </p:sp>
      <p:sp>
        <p:nvSpPr>
          <p:cNvPr id="333" name="Google Shape;333;p13"/>
          <p:cNvSpPr/>
          <p:nvPr/>
        </p:nvSpPr>
        <p:spPr>
          <a:xfrm>
            <a:off x="5824728" y="3246120"/>
            <a:ext cx="5800039"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9CB2"/>
              </a:buClr>
              <a:buSzPts val="1000"/>
              <a:buFont typeface="Calibri"/>
              <a:buNone/>
            </a:pPr>
            <a:r>
              <a:rPr lang="en-US" sz="1000" i="1">
                <a:solidFill>
                  <a:srgbClr val="9A9CB2"/>
                </a:solidFill>
                <a:latin typeface="Calibri"/>
                <a:ea typeface="Calibri"/>
                <a:cs typeface="Calibri"/>
                <a:sym typeface="Calibri"/>
              </a:rPr>
              <a:t>Revenue or core-metric trajectory — keep it high-level. Detailed model → Annexure.</a:t>
            </a:r>
            <a:endParaRPr sz="1000">
              <a:solidFill>
                <a:schemeClr val="dk1"/>
              </a:solidFill>
              <a:latin typeface="Calibri"/>
              <a:ea typeface="Calibri"/>
              <a:cs typeface="Calibri"/>
              <a:sym typeface="Calibri"/>
            </a:endParaRPr>
          </a:p>
        </p:txBody>
      </p:sp>
      <p:sp>
        <p:nvSpPr>
          <p:cNvPr id="334" name="Google Shape;334;p13"/>
          <p:cNvSpPr/>
          <p:nvPr/>
        </p:nvSpPr>
        <p:spPr>
          <a:xfrm>
            <a:off x="5824728" y="3593592"/>
            <a:ext cx="5800039" cy="2313432"/>
          </a:xfrm>
          <a:prstGeom prst="roundRect">
            <a:avLst>
              <a:gd name="adj" fmla="val 9091"/>
            </a:avLst>
          </a:prstGeom>
          <a:solidFill>
            <a:srgbClr val="FFFFFF"/>
          </a:solidFill>
          <a:ln w="12700" cap="flat" cmpd="sng">
            <a:solidFill>
              <a:srgbClr val="E5E4F1"/>
            </a:solidFill>
            <a:prstDash val="solid"/>
            <a:round/>
            <a:headEnd type="none" w="sm" len="sm"/>
            <a:tailEnd type="none" w="sm" len="sm"/>
          </a:ln>
          <a:effectLst>
            <a:outerShdw blurRad="76200" dist="25400" dir="5400000" algn="bl" rotWithShape="0">
              <a:srgbClr val="1B1838">
                <a:alpha val="705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5" name="Google Shape;335;p13" descr="preencoded.png"/>
          <p:cNvPicPr preferRelativeResize="0"/>
          <p:nvPr/>
        </p:nvPicPr>
        <p:blipFill rotWithShape="1">
          <a:blip r:embed="rId5">
            <a:alphaModFix/>
          </a:blip>
          <a:srcRect/>
          <a:stretch/>
        </p:blipFill>
        <p:spPr>
          <a:xfrm>
            <a:off x="6117336" y="3867912"/>
            <a:ext cx="420624" cy="420624"/>
          </a:xfrm>
          <a:prstGeom prst="rect">
            <a:avLst/>
          </a:prstGeom>
          <a:noFill/>
          <a:ln>
            <a:noFill/>
          </a:ln>
        </p:spPr>
      </p:pic>
      <p:pic>
        <p:nvPicPr>
          <p:cNvPr id="336" name="Google Shape;336;p13" descr="preencoded.png"/>
          <p:cNvPicPr preferRelativeResize="0"/>
          <p:nvPr/>
        </p:nvPicPr>
        <p:blipFill rotWithShape="1">
          <a:blip r:embed="rId6">
            <a:alphaModFix/>
          </a:blip>
          <a:srcRect/>
          <a:stretch/>
        </p:blipFill>
        <p:spPr>
          <a:xfrm>
            <a:off x="6243523" y="3994099"/>
            <a:ext cx="168250" cy="168250"/>
          </a:xfrm>
          <a:prstGeom prst="rect">
            <a:avLst/>
          </a:prstGeom>
          <a:noFill/>
          <a:ln>
            <a:noFill/>
          </a:ln>
        </p:spPr>
      </p:pic>
      <p:sp>
        <p:nvSpPr>
          <p:cNvPr id="337" name="Google Shape;337;p13"/>
          <p:cNvSpPr/>
          <p:nvPr/>
        </p:nvSpPr>
        <p:spPr>
          <a:xfrm>
            <a:off x="6693408" y="3849624"/>
            <a:ext cx="4702759"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400"/>
              <a:buFont typeface="Montserrat"/>
              <a:buNone/>
            </a:pPr>
            <a:r>
              <a:rPr lang="en-US" sz="1400" b="1" dirty="0">
                <a:solidFill>
                  <a:srgbClr val="1B1838"/>
                </a:solidFill>
                <a:latin typeface="Montserrat"/>
                <a:ea typeface="Montserrat"/>
                <a:cs typeface="Montserrat"/>
                <a:sym typeface="Montserrat"/>
              </a:rPr>
              <a:t>What non-monetary support would you like from </a:t>
            </a:r>
            <a:r>
              <a:rPr lang="en-US" sz="1400" b="1" dirty="0" err="1">
                <a:solidFill>
                  <a:srgbClr val="1B1838"/>
                </a:solidFill>
                <a:latin typeface="Montserrat"/>
                <a:ea typeface="Montserrat"/>
                <a:cs typeface="Montserrat"/>
                <a:sym typeface="Montserrat"/>
              </a:rPr>
              <a:t>Vande</a:t>
            </a:r>
            <a:r>
              <a:rPr lang="en-US" sz="1400" b="1" dirty="0">
                <a:solidFill>
                  <a:srgbClr val="1B1838"/>
                </a:solidFill>
                <a:latin typeface="Montserrat"/>
                <a:ea typeface="Montserrat"/>
                <a:cs typeface="Montserrat"/>
                <a:sym typeface="Montserrat"/>
              </a:rPr>
              <a:t> </a:t>
            </a:r>
            <a:r>
              <a:rPr lang="en-US" sz="1400" b="1" dirty="0" err="1">
                <a:solidFill>
                  <a:srgbClr val="1B1838"/>
                </a:solidFill>
                <a:latin typeface="Montserrat"/>
                <a:ea typeface="Montserrat"/>
                <a:cs typeface="Montserrat"/>
                <a:sym typeface="Montserrat"/>
              </a:rPr>
              <a:t>Bharatam</a:t>
            </a:r>
            <a:r>
              <a:rPr lang="en-US" sz="1400" b="1" dirty="0">
                <a:solidFill>
                  <a:srgbClr val="1B1838"/>
                </a:solidFill>
                <a:latin typeface="Montserrat"/>
                <a:ea typeface="Montserrat"/>
                <a:cs typeface="Montserrat"/>
                <a:sym typeface="Montserrat"/>
              </a:rPr>
              <a:t>?</a:t>
            </a:r>
            <a:endParaRPr sz="1400" dirty="0">
              <a:solidFill>
                <a:schemeClr val="dk1"/>
              </a:solidFill>
              <a:latin typeface="Calibri"/>
              <a:ea typeface="Calibri"/>
              <a:cs typeface="Calibri"/>
              <a:sym typeface="Calibri"/>
            </a:endParaRPr>
          </a:p>
        </p:txBody>
      </p:sp>
      <p:sp>
        <p:nvSpPr>
          <p:cNvPr id="338" name="Google Shape;338;p13"/>
          <p:cNvSpPr/>
          <p:nvPr/>
        </p:nvSpPr>
        <p:spPr>
          <a:xfrm>
            <a:off x="6117336" y="4343400"/>
            <a:ext cx="5214823"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586F"/>
              </a:buClr>
              <a:buSzPts val="1150"/>
              <a:buFont typeface="Calibri"/>
              <a:buNone/>
            </a:pPr>
            <a:endParaRPr lang="en-US" sz="1600" dirty="0"/>
          </a:p>
          <a:p>
            <a:pPr marL="0" marR="0" lvl="0" indent="0" algn="l" rtl="0">
              <a:spcBef>
                <a:spcPts val="0"/>
              </a:spcBef>
              <a:spcAft>
                <a:spcPts val="0"/>
              </a:spcAft>
              <a:buClr>
                <a:srgbClr val="55586F"/>
              </a:buClr>
              <a:buSzPts val="1150"/>
              <a:buFont typeface="Calibri"/>
              <a:buNone/>
            </a:pPr>
            <a:endParaRPr lang="en-US" sz="1600" dirty="0"/>
          </a:p>
          <a:p>
            <a:pPr marL="0" marR="0" lvl="0" indent="0" algn="l" rtl="0">
              <a:spcBef>
                <a:spcPts val="0"/>
              </a:spcBef>
              <a:spcAft>
                <a:spcPts val="0"/>
              </a:spcAft>
              <a:buClr>
                <a:srgbClr val="55586F"/>
              </a:buClr>
              <a:buSzPts val="1150"/>
              <a:buFont typeface="Calibri"/>
              <a:buNone/>
            </a:pPr>
            <a:r>
              <a:rPr lang="en-US" sz="1600" dirty="0"/>
              <a:t>Mentorship for scaling refurbished hardware supply chains within India, direct connections with national CSR heads, and strategic backing to implement tech that relieves rural teachers of non-academic duties. </a:t>
            </a:r>
            <a:endParaRPr lang="en-US" sz="1150" dirty="0">
              <a:solidFill>
                <a:schemeClr val="dk1"/>
              </a:solidFill>
              <a:latin typeface="Calibri"/>
              <a:ea typeface="Calibri"/>
              <a:cs typeface="Calibri"/>
              <a:sym typeface="Calibri"/>
            </a:endParaRPr>
          </a:p>
        </p:txBody>
      </p:sp>
      <p:sp>
        <p:nvSpPr>
          <p:cNvPr id="339" name="Google Shape;339;p13"/>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340" name="Google Shape;340;p13"/>
          <p:cNvPicPr preferRelativeResize="0"/>
          <p:nvPr/>
        </p:nvPicPr>
        <p:blipFill rotWithShape="1">
          <a:blip r:embed="rId7">
            <a:alphaModFix/>
          </a:blip>
          <a:srcRect r="55655"/>
          <a:stretch/>
        </p:blipFill>
        <p:spPr>
          <a:xfrm>
            <a:off x="566928" y="302768"/>
            <a:ext cx="323705" cy="3149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5"/>
        <p:cNvGrpSpPr/>
        <p:nvPr/>
      </p:nvGrpSpPr>
      <p:grpSpPr>
        <a:xfrm>
          <a:off x="0" y="0"/>
          <a:ext cx="0" cy="0"/>
          <a:chOff x="0" y="0"/>
          <a:chExt cx="0" cy="0"/>
        </a:xfrm>
      </p:grpSpPr>
      <p:pic>
        <p:nvPicPr>
          <p:cNvPr id="346" name="Google Shape;346;p14"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347" name="Google Shape;347;p14"/>
          <p:cNvSpPr/>
          <p:nvPr/>
        </p:nvSpPr>
        <p:spPr>
          <a:xfrm>
            <a:off x="804672" y="896112"/>
            <a:ext cx="10058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50"/>
              <a:buFont typeface="Montserrat"/>
              <a:buNone/>
            </a:pPr>
            <a:r>
              <a:rPr lang="en-US" sz="1050" b="1">
                <a:solidFill>
                  <a:srgbClr val="C8186B"/>
                </a:solidFill>
                <a:latin typeface="Montserrat"/>
                <a:ea typeface="Montserrat"/>
                <a:cs typeface="Montserrat"/>
                <a:sym typeface="Montserrat"/>
              </a:rPr>
              <a:t>ANY ADDITIONAL INFORMATION YOU WOULD LIKE US TO KNOW</a:t>
            </a:r>
            <a:endParaRPr sz="1050">
              <a:solidFill>
                <a:schemeClr val="dk1"/>
              </a:solidFill>
              <a:latin typeface="Calibri"/>
              <a:ea typeface="Calibri"/>
              <a:cs typeface="Calibri"/>
              <a:sym typeface="Calibri"/>
            </a:endParaRPr>
          </a:p>
        </p:txBody>
      </p:sp>
      <p:sp>
        <p:nvSpPr>
          <p:cNvPr id="348" name="Google Shape;348;p14"/>
          <p:cNvSpPr/>
          <p:nvPr/>
        </p:nvSpPr>
        <p:spPr>
          <a:xfrm>
            <a:off x="795528" y="1133856"/>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endParaRPr sz="2700" dirty="0">
              <a:solidFill>
                <a:schemeClr val="dk1"/>
              </a:solidFill>
              <a:latin typeface="Calibri"/>
              <a:ea typeface="Calibri"/>
              <a:cs typeface="Calibri"/>
              <a:sym typeface="Calibri"/>
            </a:endParaRPr>
          </a:p>
        </p:txBody>
      </p:sp>
      <p:sp>
        <p:nvSpPr>
          <p:cNvPr id="349" name="Google Shape;349;p14"/>
          <p:cNvSpPr/>
          <p:nvPr/>
        </p:nvSpPr>
        <p:spPr>
          <a:xfrm>
            <a:off x="537210" y="1649984"/>
            <a:ext cx="11057839" cy="4160520"/>
          </a:xfrm>
          <a:prstGeom prst="roundRect">
            <a:avLst>
              <a:gd name="adj" fmla="val 3117"/>
            </a:avLst>
          </a:prstGeom>
          <a:solidFill>
            <a:srgbClr val="FBFBFE"/>
          </a:solidFill>
          <a:ln w="15875" cap="flat" cmpd="sng">
            <a:solidFill>
              <a:srgbClr val="E5E4F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4"/>
          <p:cNvSpPr/>
          <p:nvPr/>
        </p:nvSpPr>
        <p:spPr>
          <a:xfrm>
            <a:off x="932688" y="3863340"/>
            <a:ext cx="10326319" cy="731520"/>
          </a:xfrm>
          <a:prstGeom prst="rect">
            <a:avLst/>
          </a:prstGeom>
          <a:noFill/>
          <a:ln>
            <a:noFill/>
          </a:ln>
        </p:spPr>
        <p:txBody>
          <a:bodyPr spcFirstLastPara="1" wrap="square" lIns="0" tIns="0" rIns="0" bIns="0" anchor="ctr" anchorCtr="0">
            <a:noAutofit/>
          </a:bodyPr>
          <a:lstStyle/>
          <a:p>
            <a:r>
              <a:rPr lang="en-US" sz="1600" dirty="0"/>
              <a:t>At </a:t>
            </a:r>
            <a:r>
              <a:rPr lang="en-US" sz="1600" dirty="0" err="1"/>
              <a:t>Eprashala</a:t>
            </a:r>
            <a:r>
              <a:rPr lang="en-US" sz="1600" dirty="0"/>
              <a:t>, we have always believed that the years between </a:t>
            </a:r>
            <a:r>
              <a:rPr lang="en-US" sz="1600" b="1" dirty="0"/>
              <a:t>4 and 12</a:t>
            </a:r>
            <a:r>
              <a:rPr lang="en-US" sz="1600" dirty="0"/>
              <a:t> are the most formative period in a child's life. During the first six years, children naturally idolize superheroes and fictional characters they see on television or mobile devices. As they grow older, their aspirations begin to be shaped by the authority figures around them—teachers, parents, coaches, and mentors. This is the critical stage when both their minds and their character are being formed.</a:t>
            </a:r>
          </a:p>
          <a:p>
            <a:r>
              <a:rPr lang="en-US" sz="1600" dirty="0"/>
              <a:t>If we can engage children during this defining phase and inspire them through the lives of the men and women who built our nation, we have the opportunity to create a transformational societal impact. This is where Artificial Intelligence becomes a truly powerful educational tool. Imagine a seven-year-old learning about Dr. A.P.J. Abdul Kalam, Chhatrapati Shivaji Maharaj, or Ratan Tata—not by memorizing facts and dates, but by holding an interactive conversation with their AI-powered digital avatars. Instead of passively reading history, children experience it through meaningful dialogue with the very personalities who shaped it.</a:t>
            </a:r>
          </a:p>
          <a:p>
            <a:r>
              <a:rPr lang="en-US" sz="1600" dirty="0"/>
              <a:t>Children need role models they can relate to and learn from. When an AI avatar of </a:t>
            </a:r>
            <a:r>
              <a:rPr lang="en-US" sz="1600" dirty="0" err="1"/>
              <a:t>Sachin</a:t>
            </a:r>
            <a:r>
              <a:rPr lang="en-US" sz="1600" dirty="0"/>
              <a:t> Tendulkar speaks directly to a child about discipline, perseverance, setbacks, and the journey to excellence, the learning becomes deeply personal and emotionally memorable. This goes far beyond conventional classroom education; it nurtures values, ambition, resilience, and purpose.</a:t>
            </a:r>
          </a:p>
          <a:p>
            <a:r>
              <a:rPr lang="en-US" sz="1600" dirty="0"/>
              <a:t>Our vision is simple yet transformative: if every child, including those in the most remote villages of India, can regularly interact with inspiring AI mentors modeled after our nation's greatest leaders, scientists, entrepreneurs, sportspersons, and social reformers, we can ignite a new generation of dreamers, innovators, and nation-builders. Such an ecosystem has the potential to inspire countless future Abdul Kalams, Ratan Tatas, </a:t>
            </a:r>
            <a:r>
              <a:rPr lang="en-US" sz="1600" dirty="0" err="1"/>
              <a:t>Sachin</a:t>
            </a:r>
            <a:r>
              <a:rPr lang="en-US" sz="1600" dirty="0"/>
              <a:t> </a:t>
            </a:r>
            <a:r>
              <a:rPr lang="en-US" sz="1600" dirty="0" err="1"/>
              <a:t>Tendulkars</a:t>
            </a:r>
            <a:r>
              <a:rPr lang="en-US" sz="1600" dirty="0"/>
              <a:t>, and many other extraordinary Indians who will shape the nation's future.</a:t>
            </a:r>
          </a:p>
        </p:txBody>
      </p:sp>
      <p:sp>
        <p:nvSpPr>
          <p:cNvPr id="351" name="Google Shape;351;p14"/>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352" name="Google Shape;352;p14"/>
          <p:cNvPicPr preferRelativeResize="0"/>
          <p:nvPr/>
        </p:nvPicPr>
        <p:blipFill rotWithShape="1">
          <a:blip r:embed="rId4">
            <a:alphaModFix/>
          </a:blip>
          <a:srcRect r="55655"/>
          <a:stretch/>
        </p:blipFill>
        <p:spPr>
          <a:xfrm>
            <a:off x="566928" y="302768"/>
            <a:ext cx="323705" cy="3149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p15"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359" name="Google Shape;359;p15"/>
          <p:cNvSpPr/>
          <p:nvPr/>
        </p:nvSpPr>
        <p:spPr>
          <a:xfrm>
            <a:off x="804672" y="896112"/>
            <a:ext cx="10058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50"/>
              <a:buFont typeface="Montserrat"/>
              <a:buNone/>
            </a:pPr>
            <a:r>
              <a:rPr lang="en-US" sz="1050" b="1">
                <a:solidFill>
                  <a:srgbClr val="C8186B"/>
                </a:solidFill>
                <a:latin typeface="Montserrat"/>
                <a:ea typeface="Montserrat"/>
                <a:cs typeface="Montserrat"/>
                <a:sym typeface="Montserrat"/>
              </a:rPr>
              <a:t>ANY ADDITIONAL INFORMATION YOU WOULD LIKE US TO KNOW</a:t>
            </a:r>
            <a:endParaRPr sz="1050">
              <a:solidFill>
                <a:schemeClr val="dk1"/>
              </a:solidFill>
              <a:latin typeface="Calibri"/>
              <a:ea typeface="Calibri"/>
              <a:cs typeface="Calibri"/>
              <a:sym typeface="Calibri"/>
            </a:endParaRPr>
          </a:p>
        </p:txBody>
      </p:sp>
      <p:sp>
        <p:nvSpPr>
          <p:cNvPr id="360" name="Google Shape;360;p15"/>
          <p:cNvSpPr/>
          <p:nvPr/>
        </p:nvSpPr>
        <p:spPr>
          <a:xfrm>
            <a:off x="795528" y="1133856"/>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dirty="0">
                <a:solidFill>
                  <a:srgbClr val="1B1838"/>
                </a:solidFill>
                <a:latin typeface="Montserrat"/>
                <a:ea typeface="Montserrat"/>
                <a:cs typeface="Montserrat"/>
                <a:sym typeface="Montserrat"/>
              </a:rPr>
              <a:t>Annexure 2</a:t>
            </a:r>
            <a:endParaRPr sz="2700" dirty="0">
              <a:solidFill>
                <a:schemeClr val="dk1"/>
              </a:solidFill>
              <a:latin typeface="Calibri"/>
              <a:ea typeface="Calibri"/>
              <a:cs typeface="Calibri"/>
              <a:sym typeface="Calibri"/>
            </a:endParaRPr>
          </a:p>
        </p:txBody>
      </p:sp>
      <p:sp>
        <p:nvSpPr>
          <p:cNvPr id="361" name="Google Shape;361;p15"/>
          <p:cNvSpPr/>
          <p:nvPr/>
        </p:nvSpPr>
        <p:spPr>
          <a:xfrm>
            <a:off x="566928" y="1828800"/>
            <a:ext cx="11057839" cy="4160520"/>
          </a:xfrm>
          <a:prstGeom prst="roundRect">
            <a:avLst>
              <a:gd name="adj" fmla="val 3117"/>
            </a:avLst>
          </a:prstGeom>
          <a:solidFill>
            <a:srgbClr val="FBFBFE"/>
          </a:solidFill>
          <a:ln w="15875" cap="flat" cmpd="sng">
            <a:solidFill>
              <a:srgbClr val="E5E4F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5"/>
          <p:cNvSpPr/>
          <p:nvPr/>
        </p:nvSpPr>
        <p:spPr>
          <a:xfrm>
            <a:off x="932688" y="3863340"/>
            <a:ext cx="10326319" cy="731520"/>
          </a:xfrm>
          <a:prstGeom prst="rect">
            <a:avLst/>
          </a:prstGeom>
          <a:noFill/>
          <a:ln>
            <a:noFill/>
          </a:ln>
        </p:spPr>
        <p:txBody>
          <a:bodyPr spcFirstLastPara="1" wrap="square" lIns="0" tIns="0" rIns="0" bIns="0" anchor="ctr" anchorCtr="0">
            <a:noAutofit/>
          </a:bodyPr>
          <a:lstStyle/>
          <a:p>
            <a:r>
              <a:rPr lang="en-US" sz="1150" dirty="0"/>
              <a:t>Former Prime Minister Shri Atal Bihari Vajpayee once said, </a:t>
            </a:r>
            <a:r>
              <a:rPr lang="en-US" sz="1150" i="1" dirty="0"/>
              <a:t>"</a:t>
            </a:r>
            <a:r>
              <a:rPr lang="en-US" sz="1150" i="1" dirty="0" err="1"/>
              <a:t>Azaadi</a:t>
            </a:r>
            <a:r>
              <a:rPr lang="en-US" sz="1150" i="1" dirty="0"/>
              <a:t> </a:t>
            </a:r>
            <a:r>
              <a:rPr lang="en-US" sz="1150" i="1" dirty="0" err="1"/>
              <a:t>abhi</a:t>
            </a:r>
            <a:r>
              <a:rPr lang="en-US" sz="1150" i="1" dirty="0"/>
              <a:t> </a:t>
            </a:r>
            <a:r>
              <a:rPr lang="en-US" sz="1150" i="1" dirty="0" err="1"/>
              <a:t>adhuri</a:t>
            </a:r>
            <a:r>
              <a:rPr lang="en-US" sz="1150" i="1" dirty="0"/>
              <a:t> </a:t>
            </a:r>
            <a:r>
              <a:rPr lang="en-US" sz="1150" i="1" dirty="0" err="1"/>
              <a:t>hai</a:t>
            </a:r>
            <a:r>
              <a:rPr lang="en-US" sz="1150" i="1" dirty="0"/>
              <a:t>"</a:t>
            </a:r>
            <a:r>
              <a:rPr lang="en-US" sz="1150" dirty="0"/>
              <a:t> ("Our freedom is still incomplete"). I believe that, in the 21st century, true freedom also means freedom from illiteracy and technological dependence. Artificial Intelligence is often viewed as a threat to jobs, but I see it as India's greatest opportunity to become a global technology leader. As our Hon'ble Prime Minister Shri Narendra Modi has often emphasized, the greatest opportunities are often hidden within the greatest challenges.</a:t>
            </a:r>
          </a:p>
          <a:p>
            <a:r>
              <a:rPr lang="en-US" sz="1150" dirty="0"/>
              <a:t>Today, the global AI ecosystem is dominated by a handful of nations and corporations. Much of the world's AI software, cloud infrastructure, semiconductor technology, and advanced hardware originates outside India. This concentration creates strategic dependencies that every nation must carefully consider.</a:t>
            </a:r>
          </a:p>
          <a:p>
            <a:r>
              <a:rPr lang="en-US" sz="1150" dirty="0"/>
              <a:t>Recent global technology disruptions have demonstrated how dependent modern economies have become on digital infrastructure. Banking, transportation, healthcare, education, governance, and communication all rely on technology platforms that are increasingly global in nature. As India accelerates its digital transformation, strengthening indigenous AI capabilities is not merely an economic opportunity—it is a matter of technological resilience and national preparedness.</a:t>
            </a:r>
          </a:p>
          <a:p>
            <a:r>
              <a:rPr lang="en-US" sz="1150" dirty="0"/>
              <a:t>Rather than fearing that Artificial Intelligence will replace jobs, this is the moment for India to build the next generation of globally respected technology companies. Just as previous generations built India's strengths in software and digital services, this generation has the opportunity to build world-class AI platforms, computing infrastructure, and intelligent products designed in India, built in India, and serving the world.</a:t>
            </a:r>
          </a:p>
          <a:p>
            <a:r>
              <a:rPr lang="en-US" sz="1150" dirty="0"/>
              <a:t>The hardware challenge, however, is equally important. During my sixteen years of visiting manufacturing ecosystems in China, where I even maintained a residence for an extended period, I observed an important principle behind their scale: refurbishment, repair, reuse, and component recovery are deeply embedded within their industrial ecosystem. Extending the life of electronics dramatically reduces costs while maximizing the value extracted from existing technology.</a:t>
            </a:r>
          </a:p>
          <a:p>
            <a:r>
              <a:rPr lang="en-US" sz="1150" dirty="0"/>
              <a:t>Establishing a completely new semiconductor and hardware manufacturing ecosystem requires enormous investments and many years of sustained effort. While India continues to build those long-term capabilities, we also have an immediate and highly practical opportunity: large-scale refurbishment and component reuse.</a:t>
            </a:r>
          </a:p>
          <a:p>
            <a:r>
              <a:rPr lang="en-US" sz="1150" dirty="0"/>
              <a:t>Consider a smartphone. Most consumers replace their devices every two or three years, even though many of the internal components—the processor, memory, storage, power management circuits, and other electronic modules—remain fully functional. Instead of allowing these valuable resources to become electronic waste, they can be recovered, tested, and repurposed into new technology products.</a:t>
            </a:r>
          </a:p>
          <a:p>
            <a:r>
              <a:rPr lang="en-US" sz="1150" dirty="0"/>
              <a:t>Recovered computing components can power affordable educational laptops, AI-enabled learning devices, smart set-top boxes, networking equipment, edge-computing systems, robotics controllers, and distributed computing clusters that support AI workloads. This circular approach not only reduces costs but also creates skilled employment, strengthens India's electronics ecosystem, reduces e-waste, and makes advanced technology accessible to millions.</a:t>
            </a:r>
          </a:p>
          <a:p>
            <a:r>
              <a:rPr lang="en-US" sz="1150" dirty="0"/>
              <a:t>India's AI future should not be built solely by consuming imported technologies. It should be built through innovation, self-reliance, sustainable manufacturing, and intelligent reuse of existing resources. By combining world-class AI software with affordable, refurbished computing infrastructure, India can democratize access to Artificial Intelligence while creating a resilient, scalable, and environmentally responsible digital ecosystem for the next billion users.</a:t>
            </a:r>
          </a:p>
        </p:txBody>
      </p:sp>
      <p:sp>
        <p:nvSpPr>
          <p:cNvPr id="363" name="Google Shape;363;p15"/>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364" name="Google Shape;364;p15"/>
          <p:cNvPicPr preferRelativeResize="0"/>
          <p:nvPr/>
        </p:nvPicPr>
        <p:blipFill rotWithShape="1">
          <a:blip r:embed="rId4">
            <a:alphaModFix/>
          </a:blip>
          <a:srcRect r="55655"/>
          <a:stretch/>
        </p:blipFill>
        <p:spPr>
          <a:xfrm>
            <a:off x="566928" y="302768"/>
            <a:ext cx="323705" cy="3149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16"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371" name="Google Shape;371;p16"/>
          <p:cNvSpPr/>
          <p:nvPr/>
        </p:nvSpPr>
        <p:spPr>
          <a:xfrm>
            <a:off x="804672" y="896112"/>
            <a:ext cx="10058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50"/>
              <a:buFont typeface="Montserrat"/>
              <a:buNone/>
            </a:pPr>
            <a:r>
              <a:rPr lang="en-US" sz="1050" b="1">
                <a:solidFill>
                  <a:srgbClr val="C8186B"/>
                </a:solidFill>
                <a:latin typeface="Montserrat"/>
                <a:ea typeface="Montserrat"/>
                <a:cs typeface="Montserrat"/>
                <a:sym typeface="Montserrat"/>
              </a:rPr>
              <a:t>ANY ADDITIONAL INFORMATION YOU WOULD LIKE US TO KNOW</a:t>
            </a:r>
            <a:endParaRPr sz="1050">
              <a:solidFill>
                <a:schemeClr val="dk1"/>
              </a:solidFill>
              <a:latin typeface="Calibri"/>
              <a:ea typeface="Calibri"/>
              <a:cs typeface="Calibri"/>
              <a:sym typeface="Calibri"/>
            </a:endParaRPr>
          </a:p>
        </p:txBody>
      </p:sp>
      <p:sp>
        <p:nvSpPr>
          <p:cNvPr id="372" name="Google Shape;372;p16"/>
          <p:cNvSpPr/>
          <p:nvPr/>
        </p:nvSpPr>
        <p:spPr>
          <a:xfrm>
            <a:off x="795528" y="1133856"/>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Annexure 3</a:t>
            </a:r>
            <a:endParaRPr sz="2700">
              <a:solidFill>
                <a:schemeClr val="dk1"/>
              </a:solidFill>
              <a:latin typeface="Calibri"/>
              <a:ea typeface="Calibri"/>
              <a:cs typeface="Calibri"/>
              <a:sym typeface="Calibri"/>
            </a:endParaRPr>
          </a:p>
        </p:txBody>
      </p:sp>
      <p:sp>
        <p:nvSpPr>
          <p:cNvPr id="373" name="Google Shape;373;p16"/>
          <p:cNvSpPr/>
          <p:nvPr/>
        </p:nvSpPr>
        <p:spPr>
          <a:xfrm>
            <a:off x="566928" y="1828800"/>
            <a:ext cx="11057839" cy="4160520"/>
          </a:xfrm>
          <a:prstGeom prst="roundRect">
            <a:avLst>
              <a:gd name="adj" fmla="val 3117"/>
            </a:avLst>
          </a:prstGeom>
          <a:solidFill>
            <a:srgbClr val="FBFBFE"/>
          </a:solidFill>
          <a:ln w="15875" cap="flat" cmpd="sng">
            <a:solidFill>
              <a:srgbClr val="E5E4F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6"/>
          <p:cNvSpPr/>
          <p:nvPr/>
        </p:nvSpPr>
        <p:spPr>
          <a:xfrm>
            <a:off x="932688" y="3863340"/>
            <a:ext cx="10326319" cy="731520"/>
          </a:xfrm>
          <a:prstGeom prst="rect">
            <a:avLst/>
          </a:prstGeom>
          <a:noFill/>
          <a:ln>
            <a:noFill/>
          </a:ln>
        </p:spPr>
        <p:txBody>
          <a:bodyPr spcFirstLastPara="1" wrap="square" lIns="0" tIns="0" rIns="0" bIns="0" anchor="ctr" anchorCtr="0">
            <a:noAutofit/>
          </a:bodyPr>
          <a:lstStyle/>
          <a:p>
            <a:r>
              <a:rPr lang="en-US" sz="1150" dirty="0"/>
              <a:t>If I were to speak about the innovations that lie ahead, I would say that we have only just begun. By decoding the knowledge embedded in India's ancient texts and combining it with modern Artificial Intelligence, we already have a pipeline of more than one hundred innovation projects. However, if you ask me which innovation I believe has the potential to become a global benchmark over the next decade, my answer is clear: the next phase of our </a:t>
            </a:r>
            <a:r>
              <a:rPr lang="en-US" sz="1150" b="1" dirty="0" err="1"/>
              <a:t>Dhwani</a:t>
            </a:r>
            <a:r>
              <a:rPr lang="en-US" sz="1150" dirty="0"/>
              <a:t> platform—</a:t>
            </a:r>
            <a:r>
              <a:rPr lang="en-US" sz="1150" b="1" dirty="0"/>
              <a:t>Project </a:t>
            </a:r>
            <a:r>
              <a:rPr lang="en-US" sz="1150" b="1" dirty="0" err="1"/>
              <a:t>Aatma</a:t>
            </a:r>
            <a:r>
              <a:rPr lang="en-US" sz="1150" dirty="0"/>
              <a:t>.</a:t>
            </a:r>
          </a:p>
          <a:p>
            <a:r>
              <a:rPr lang="en-US" sz="1150" dirty="0"/>
              <a:t>The first milestone of </a:t>
            </a:r>
            <a:r>
              <a:rPr lang="en-US" sz="1150" dirty="0" err="1"/>
              <a:t>Dhwani</a:t>
            </a:r>
            <a:r>
              <a:rPr lang="en-US" sz="1150" dirty="0"/>
              <a:t> is a module we call </a:t>
            </a:r>
            <a:r>
              <a:rPr lang="en-US" sz="1150" b="1" dirty="0" err="1"/>
              <a:t>Parmatma</a:t>
            </a:r>
            <a:r>
              <a:rPr lang="en-US" sz="1150" dirty="0"/>
              <a:t>, where users can engage in immersive, AI-powered conversations inspired by the teachings and philosophies of revered spiritual figures. It demonstrates how AI can make timeless wisdom more accessible and engaging.</a:t>
            </a:r>
            <a:br>
              <a:rPr lang="en-US" sz="1150" dirty="0"/>
            </a:br>
            <a:r>
              <a:rPr lang="en-US" sz="1150" dirty="0"/>
              <a:t>Our next and far more ambitious vision is </a:t>
            </a:r>
            <a:r>
              <a:rPr lang="en-US" sz="1150" b="1" dirty="0"/>
              <a:t>Project </a:t>
            </a:r>
            <a:r>
              <a:rPr lang="en-US" sz="1150" b="1" dirty="0" err="1"/>
              <a:t>Aatma</a:t>
            </a:r>
            <a:r>
              <a:rPr lang="en-US" sz="1150" dirty="0"/>
              <a:t>.</a:t>
            </a:r>
          </a:p>
          <a:p>
            <a:r>
              <a:rPr lang="en-US" sz="1150" dirty="0"/>
              <a:t>Project </a:t>
            </a:r>
            <a:r>
              <a:rPr lang="en-US" sz="1150" dirty="0" err="1"/>
              <a:t>Aatma</a:t>
            </a:r>
            <a:r>
              <a:rPr lang="en-US" sz="1150" dirty="0"/>
              <a:t> is our vision for creating a </a:t>
            </a:r>
            <a:r>
              <a:rPr lang="en-US" sz="1150" b="1" dirty="0"/>
              <a:t>Digital Twin of Human Wisdom</a:t>
            </a:r>
            <a:r>
              <a:rPr lang="en-US" sz="1150" dirty="0"/>
              <a:t>. Our goal is to build an AI system that learns an individual's knowledge, experiences, communication style, values, and decision-making patterns over time. Rather than merely storing information, it preserves a person's intellectual legacy in an interactive form, allowing future generations to learn from their insights long into the future.</a:t>
            </a:r>
          </a:p>
          <a:p>
            <a:r>
              <a:rPr lang="en-US" sz="1150" dirty="0"/>
              <a:t>Imagine a child, decades from now, being able to have a meaningful conversation with the AI representation of a grandparent or great-grandparent—learning family history, hearing life lessons, understanding values, and receiving guidance based on that person's recorded knowledge and personality. Today, most families preserve memories through photographs and videos. Project </a:t>
            </a:r>
            <a:r>
              <a:rPr lang="en-US" sz="1150" dirty="0" err="1"/>
              <a:t>Aatma</a:t>
            </a:r>
            <a:r>
              <a:rPr lang="en-US" sz="1150" dirty="0"/>
              <a:t> aims to preserve something even more valuable: wisdom, experience, and human connection.</a:t>
            </a:r>
          </a:p>
          <a:p>
            <a:r>
              <a:rPr lang="en-US" sz="1150" dirty="0"/>
              <a:t>This is not simply about technology—it is about preserving civilization's most precious asset: human knowledge.</a:t>
            </a:r>
          </a:p>
          <a:p>
            <a:r>
              <a:rPr lang="en-US" sz="1150" dirty="0"/>
              <a:t>The impact, however, extends far beyond preserving legacy. Project </a:t>
            </a:r>
            <a:r>
              <a:rPr lang="en-US" sz="1150" dirty="0" err="1"/>
              <a:t>Aatma</a:t>
            </a:r>
            <a:r>
              <a:rPr lang="en-US" sz="1150" dirty="0"/>
              <a:t> has the potential to become a powerful productivity platform for the living.</a:t>
            </a:r>
          </a:p>
          <a:p>
            <a:r>
              <a:rPr lang="en-US" sz="1150" dirty="0"/>
              <a:t>Consider an entrepreneur, scientist, educator, physician, or CEO who makes hundreds of decisions every day. Over time, Project </a:t>
            </a:r>
            <a:r>
              <a:rPr lang="en-US" sz="1150" dirty="0" err="1"/>
              <a:t>Aatma</a:t>
            </a:r>
            <a:r>
              <a:rPr lang="en-US" sz="1150" dirty="0"/>
              <a:t> can learn their working style, priorities, and decision frameworks to function as an intelligent digital assistant. Routine decisions can be organized, filtered, and prioritized—distinguishing between low-impact tasks, important operational matters, and decisions that require personal attention. By reducing cognitive overload and automating repetitive decision support, leaders can devote more of their time and mental energy to creativity, innovation, strategy, and solving humanity's most important challenges.</a:t>
            </a:r>
          </a:p>
          <a:p>
            <a:r>
              <a:rPr lang="en-US" sz="1150" dirty="0"/>
              <a:t>Our long-term vision is not to replace human intelligence, but to amplify it.</a:t>
            </a:r>
          </a:p>
          <a:p>
            <a:r>
              <a:rPr lang="en-US" sz="1150" dirty="0"/>
              <a:t>Just as libraries preserve books and museums preserve history, Project </a:t>
            </a:r>
            <a:r>
              <a:rPr lang="en-US" sz="1150" dirty="0" err="1"/>
              <a:t>Aatma</a:t>
            </a:r>
            <a:r>
              <a:rPr lang="en-US" sz="1150" dirty="0"/>
              <a:t> aspires to preserve human wisdom—making it accessible, interactive, and valuable for generations to come. We believe this represents one of the next great frontiers of Artificial Intelligence: technology that not only serves humanity today but also safeguards its collective knowledge for tomorrow.</a:t>
            </a:r>
          </a:p>
          <a:p>
            <a:endParaRPr lang="en-US" sz="1150" dirty="0"/>
          </a:p>
        </p:txBody>
      </p:sp>
      <p:sp>
        <p:nvSpPr>
          <p:cNvPr id="375" name="Google Shape;375;p16"/>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376" name="Google Shape;376;p16"/>
          <p:cNvPicPr preferRelativeResize="0"/>
          <p:nvPr/>
        </p:nvPicPr>
        <p:blipFill rotWithShape="1">
          <a:blip r:embed="rId4">
            <a:alphaModFix/>
          </a:blip>
          <a:srcRect r="55655"/>
          <a:stretch/>
        </p:blipFill>
        <p:spPr>
          <a:xfrm>
            <a:off x="566928" y="302768"/>
            <a:ext cx="323705" cy="3149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pic>
        <p:nvPicPr>
          <p:cNvPr id="382" name="Google Shape;382;p17" descr="preencoded.png"/>
          <p:cNvPicPr preferRelativeResize="0"/>
          <p:nvPr/>
        </p:nvPicPr>
        <p:blipFill rotWithShape="1">
          <a:blip r:embed="rId3">
            <a:alphaModFix/>
          </a:blip>
          <a:srcRect/>
          <a:stretch/>
        </p:blipFill>
        <p:spPr>
          <a:xfrm>
            <a:off x="566928" y="950976"/>
            <a:ext cx="82296" cy="603504"/>
          </a:xfrm>
          <a:prstGeom prst="rect">
            <a:avLst/>
          </a:prstGeom>
          <a:noFill/>
          <a:ln>
            <a:noFill/>
          </a:ln>
        </p:spPr>
      </p:pic>
      <p:sp>
        <p:nvSpPr>
          <p:cNvPr id="383" name="Google Shape;383;p17"/>
          <p:cNvSpPr/>
          <p:nvPr/>
        </p:nvSpPr>
        <p:spPr>
          <a:xfrm>
            <a:off x="804672" y="896112"/>
            <a:ext cx="10058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8186B"/>
              </a:buClr>
              <a:buSzPts val="1050"/>
              <a:buFont typeface="Montserrat"/>
              <a:buNone/>
            </a:pPr>
            <a:r>
              <a:rPr lang="en-US" sz="1050" b="1">
                <a:solidFill>
                  <a:srgbClr val="C8186B"/>
                </a:solidFill>
                <a:latin typeface="Montserrat"/>
                <a:ea typeface="Montserrat"/>
                <a:cs typeface="Montserrat"/>
                <a:sym typeface="Montserrat"/>
              </a:rPr>
              <a:t>ANY ADDITIONAL INFORMATION YOU WOULD LIKE US TO KNOW</a:t>
            </a:r>
            <a:endParaRPr sz="1050">
              <a:solidFill>
                <a:schemeClr val="dk1"/>
              </a:solidFill>
              <a:latin typeface="Calibri"/>
              <a:ea typeface="Calibri"/>
              <a:cs typeface="Calibri"/>
              <a:sym typeface="Calibri"/>
            </a:endParaRPr>
          </a:p>
        </p:txBody>
      </p:sp>
      <p:sp>
        <p:nvSpPr>
          <p:cNvPr id="384" name="Google Shape;384;p17"/>
          <p:cNvSpPr/>
          <p:nvPr/>
        </p:nvSpPr>
        <p:spPr>
          <a:xfrm>
            <a:off x="795528" y="1133856"/>
            <a:ext cx="10058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2700"/>
              <a:buFont typeface="Montserrat"/>
              <a:buNone/>
            </a:pPr>
            <a:r>
              <a:rPr lang="en-US" sz="2700" b="1">
                <a:solidFill>
                  <a:srgbClr val="1B1838"/>
                </a:solidFill>
                <a:latin typeface="Montserrat"/>
                <a:ea typeface="Montserrat"/>
                <a:cs typeface="Montserrat"/>
                <a:sym typeface="Montserrat"/>
              </a:rPr>
              <a:t>Annexure 4</a:t>
            </a:r>
            <a:endParaRPr sz="2700">
              <a:solidFill>
                <a:schemeClr val="dk1"/>
              </a:solidFill>
              <a:latin typeface="Calibri"/>
              <a:ea typeface="Calibri"/>
              <a:cs typeface="Calibri"/>
              <a:sym typeface="Calibri"/>
            </a:endParaRPr>
          </a:p>
        </p:txBody>
      </p:sp>
      <p:sp>
        <p:nvSpPr>
          <p:cNvPr id="385" name="Google Shape;385;p17"/>
          <p:cNvSpPr/>
          <p:nvPr/>
        </p:nvSpPr>
        <p:spPr>
          <a:xfrm>
            <a:off x="566928" y="1828800"/>
            <a:ext cx="11057839" cy="4160520"/>
          </a:xfrm>
          <a:prstGeom prst="roundRect">
            <a:avLst>
              <a:gd name="adj" fmla="val 3117"/>
            </a:avLst>
          </a:prstGeom>
          <a:solidFill>
            <a:srgbClr val="FBFBFE"/>
          </a:solidFill>
          <a:ln w="15875" cap="flat" cmpd="sng">
            <a:solidFill>
              <a:srgbClr val="E5E4F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7"/>
          <p:cNvSpPr/>
          <p:nvPr/>
        </p:nvSpPr>
        <p:spPr>
          <a:xfrm>
            <a:off x="932688" y="3863340"/>
            <a:ext cx="10326319" cy="731520"/>
          </a:xfrm>
          <a:prstGeom prst="rect">
            <a:avLst/>
          </a:prstGeom>
          <a:noFill/>
          <a:ln>
            <a:noFill/>
          </a:ln>
        </p:spPr>
        <p:txBody>
          <a:bodyPr spcFirstLastPara="1" wrap="square" lIns="0" tIns="0" rIns="0" bIns="0" anchor="ctr" anchorCtr="0">
            <a:noAutofit/>
          </a:bodyPr>
          <a:lstStyle/>
          <a:p>
            <a:r>
              <a:rPr lang="en-US" sz="1100" b="1" dirty="0"/>
              <a:t>Empowering Women through AI, Ayurveda, and India's Knowledge Heritage</a:t>
            </a:r>
          </a:p>
          <a:p>
            <a:r>
              <a:rPr lang="en-US" sz="1100" dirty="0"/>
              <a:t>No nation can achieve sustainable progress without empowering its women. An educated, healthy, confident, and economically independent woman strengthens not only her family but also the nation's economy. At </a:t>
            </a:r>
            <a:r>
              <a:rPr lang="en-US" sz="1100" dirty="0" err="1"/>
              <a:t>Eprashala</a:t>
            </a:r>
            <a:r>
              <a:rPr lang="en-US" sz="1100" dirty="0"/>
              <a:t>, we believe that the future of India is inseparable from the future of its daughters.</a:t>
            </a:r>
          </a:p>
          <a:p>
            <a:r>
              <a:rPr lang="en-US" sz="1100" dirty="0"/>
              <a:t>During our work in rural India, we observed a deeply concerning challenge: the dropout rate among adolescent girls rises significantly after the age of fourteen. A major reason is the lack of access to trusted, confidential guidance on health, menstruation, nutrition, emotional well-being, and adolescence. Many girls hesitate to discuss these sensitive issues even with parents, teachers, or healthcare professionals due to fear, embarrassment, or social stigma.</a:t>
            </a:r>
            <a:br>
              <a:rPr lang="en-US" sz="1100" dirty="0"/>
            </a:br>
            <a:r>
              <a:rPr lang="en-US" sz="1100" dirty="0"/>
              <a:t>To address this challenge, we developed </a:t>
            </a:r>
            <a:r>
              <a:rPr lang="en-US" sz="1100" b="1" dirty="0"/>
              <a:t>Dr. </a:t>
            </a:r>
            <a:r>
              <a:rPr lang="en-US" sz="1100" b="1" dirty="0" err="1"/>
              <a:t>Pihu</a:t>
            </a:r>
            <a:r>
              <a:rPr lang="en-US" sz="1100" dirty="0"/>
              <a:t>, an AI-powered women's health mentor created under the guidance of experienced Ayurvedic gynecologists. Dr. </a:t>
            </a:r>
            <a:r>
              <a:rPr lang="en-US" sz="1100" dirty="0" err="1"/>
              <a:t>Pihu</a:t>
            </a:r>
            <a:r>
              <a:rPr lang="en-US" sz="1100" dirty="0"/>
              <a:t> provides a private, judgment-free environment where girls and women can ask questions they may otherwise hesitate to ask. Drawing upon classical Ayurvedic literature, traditional Indian health practices, and evidence-informed wellness guidance, Dr. </a:t>
            </a:r>
            <a:r>
              <a:rPr lang="en-US" sz="1100" dirty="0" err="1"/>
              <a:t>Pihu</a:t>
            </a:r>
            <a:r>
              <a:rPr lang="en-US" sz="1100" dirty="0"/>
              <a:t> offers personalized educational support, lifestyle recommendations, nutrition advice, and home-based wellness practices using ingredients commonly found in Indian kitchens. By making trusted guidance accessible at any time, we hope to improve awareness, confidence, and well-being, thereby supporting girls in continuing their education.</a:t>
            </a:r>
          </a:p>
          <a:p>
            <a:r>
              <a:rPr lang="en-US" sz="1100" dirty="0"/>
              <a:t>Women's safety is another critical pillar of empowerment. Inspired by the ancient Indian science of </a:t>
            </a:r>
            <a:r>
              <a:rPr lang="en-US" sz="1100" b="1" dirty="0" err="1"/>
              <a:t>Mukha</a:t>
            </a:r>
            <a:r>
              <a:rPr lang="en-US" sz="1100" b="1" dirty="0"/>
              <a:t> </a:t>
            </a:r>
            <a:r>
              <a:rPr lang="en-US" sz="1100" b="1" dirty="0" err="1"/>
              <a:t>Samudrika</a:t>
            </a:r>
            <a:r>
              <a:rPr lang="en-US" sz="1100" b="1" dirty="0"/>
              <a:t> Shastra</a:t>
            </a:r>
            <a:r>
              <a:rPr lang="en-US" sz="1100" dirty="0"/>
              <a:t>, we have developed an AI-based facial analysis platform for educational and self-awareness purposes. The system provides personality insights based on traditional principles and is intended to encourage thoughtful decision-making and greater awareness in personal and professional interactions. While such insights should never replace human judgment, they can serve as an additional tool to promote caution, self-reflection, and informed choices.</a:t>
            </a:r>
          </a:p>
          <a:p>
            <a:r>
              <a:rPr lang="en-US" sz="1100" dirty="0"/>
              <a:t>Beyond education and safety, we envision AI as a catalyst for women's entrepreneurship.</a:t>
            </a:r>
          </a:p>
          <a:p>
            <a:r>
              <a:rPr lang="en-US" sz="1100" dirty="0"/>
              <a:t>India possesses thousands of years of documented knowledge in Ayurveda, natural wellness, and traditional beauty practices. Our AI platform enables women entrepreneurs to explore these classical formulations, understand natural ingredients, and innovate responsibly using India's rich botanical heritage. By combining ancient wisdom with modern AI, women can create high-quality, sustainable, and nature-inspired wellness and cosmetic products rooted in traditional Indian knowledge.</a:t>
            </a:r>
          </a:p>
          <a:p>
            <a:r>
              <a:rPr lang="en-US" sz="1100" dirty="0"/>
              <a:t>Our long-term vision is to enable thousands of women to build successful homegrown wellness enterprises that create employment, promote sustainable living, and showcase India's ancient scientific heritage to the world.</a:t>
            </a:r>
          </a:p>
          <a:p>
            <a:r>
              <a:rPr lang="en-US" sz="1100" dirty="0"/>
              <a:t>At </a:t>
            </a:r>
            <a:r>
              <a:rPr lang="en-US" sz="1100" dirty="0" err="1"/>
              <a:t>Eprashala</a:t>
            </a:r>
            <a:r>
              <a:rPr lang="en-US" sz="1100" dirty="0"/>
              <a:t>, we believe that Artificial Intelligence should not merely automate work—it should unlock human potential. By empowering women with knowledge, confidence, entrepreneurship, and access to India's timeless wisdom, we aspire to build a future where every girl can learn without fear, every woman can lead with confidence, and every family can contribute to a stronger, healthier, and more self-reliant India.</a:t>
            </a:r>
          </a:p>
          <a:p>
            <a:endParaRPr lang="en-US" sz="1100" dirty="0"/>
          </a:p>
        </p:txBody>
      </p:sp>
      <p:sp>
        <p:nvSpPr>
          <p:cNvPr id="387" name="Google Shape;387;p17"/>
          <p:cNvSpPr/>
          <p:nvPr/>
        </p:nvSpPr>
        <p:spPr>
          <a:xfrm>
            <a:off x="1016000" y="343408"/>
            <a:ext cx="378764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1838"/>
              </a:buClr>
              <a:buSzPts val="1050"/>
              <a:buFont typeface="Montserrat"/>
              <a:buNone/>
            </a:pPr>
            <a:r>
              <a:rPr lang="en-US" sz="1050" b="1">
                <a:solidFill>
                  <a:srgbClr val="1B1838"/>
                </a:solidFill>
                <a:latin typeface="Montserrat"/>
                <a:ea typeface="Montserrat"/>
                <a:cs typeface="Montserrat"/>
                <a:sym typeface="Montserrat"/>
              </a:rPr>
              <a:t>VANDE BHARATAM</a:t>
            </a:r>
            <a:endParaRPr sz="1050">
              <a:solidFill>
                <a:schemeClr val="dk1"/>
              </a:solidFill>
              <a:latin typeface="Calibri"/>
              <a:ea typeface="Calibri"/>
              <a:cs typeface="Calibri"/>
              <a:sym typeface="Calibri"/>
            </a:endParaRPr>
          </a:p>
        </p:txBody>
      </p:sp>
      <p:pic>
        <p:nvPicPr>
          <p:cNvPr id="388" name="Google Shape;388;p17"/>
          <p:cNvPicPr preferRelativeResize="0"/>
          <p:nvPr/>
        </p:nvPicPr>
        <p:blipFill rotWithShape="1">
          <a:blip r:embed="rId4">
            <a:alphaModFix/>
          </a:blip>
          <a:srcRect r="55655"/>
          <a:stretch/>
        </p:blipFill>
        <p:spPr>
          <a:xfrm>
            <a:off x="566928" y="302768"/>
            <a:ext cx="323705" cy="31496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3488</Words>
  <Application>Microsoft Office PowerPoint</Application>
  <PresentationFormat>Widescreen</PresentationFormat>
  <Paragraphs>240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 prashala</cp:lastModifiedBy>
  <cp:revision>10</cp:revision>
  <dcterms:modified xsi:type="dcterms:W3CDTF">2026-07-22T12:04:39Z</dcterms:modified>
</cp:coreProperties>
</file>